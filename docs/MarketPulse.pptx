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p:restoredTop sz="94640"/>
  </p:normalViewPr>
  <p:slideViewPr>
    <p:cSldViewPr snapToGrid="0" snapToObjects="1">
      <p:cViewPr varScale="1">
        <p:scale>
          <a:sx n="111" d="100"/>
          <a:sy n="111" d="100"/>
        </p:scale>
        <p:origin x="656" y="2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1128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hook: over 1.9 crore new demat accounts since 2020 — mostly beginners deciding on tips. The data they need already exists; the understanding doesn't. MarketPulse brings the signals together, explains them in plain language, and — unlike any generic chatbot — is instrumented with PRISM so every AI explanation is monitored, evaluated and improved.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 gap: the data exists, the understanding doesn't. Add the 2026 twist: beginners now also ask generic AI chatbots, which sound confident but hallucinate numbers and give no way to verify. Two problems: scattered signals, and untrustworthy AI explanations.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Land the last bullet hard — it sets up PRISM as the differentiator: every current solution, including AI ones, ships without a monitoring and evaluation loop.</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Emphasize transparency as the design principle: every number the AI says can be traced to a visible signal on screen. The score is computed by rules — the AI explains it, it doesn't invent it.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line (PRISM's own philosophy): 'A request can return 200 OK and still fail the user.' Our score means nothing unless an evaluator can verify it. Walk the loop: narrative said 'bullish momentum' while VIX jumped 15% → consistency evaluator failed it → root cause: prompt under-weighted volatility → prompt v2 → same scenario re-run → pass → reliability score +1.</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diagram, four boxes plus a feedback arrow — exactly the required workflow. Close the loop verbally with the concrete example at the bottom of the slide.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on the trust line: beginners don't fear markets because markets are risky — they fear them because nobody explains them. MarketPulse explains, and PRISM proves the explanations keep getting better.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737360"/>
            <a:ext cx="10515600" cy="2377440"/>
          </a:xfrm>
          <a:prstGeom prst="rect">
            <a:avLst/>
          </a:prstGeom>
          <a:noFill/>
        </p:spPr>
        <p:txBody>
          <a:bodyPr wrap="square" anchor="t">
            <a:spAutoFit/>
          </a:bodyPr>
          <a:lstStyle/>
          <a:p>
            <a:pPr algn="l">
              <a:spcAft>
                <a:spcPts val="400"/>
              </a:spcAft>
            </a:pPr>
            <a:r>
              <a:rPr sz="4800" b="1" i="0">
                <a:solidFill>
                  <a:srgbClr val="FFFFFF"/>
                </a:solidFill>
                <a:latin typeface="Calibri"/>
              </a:rPr>
              <a:t>MARKETPULSE</a:t>
            </a:r>
          </a:p>
          <a:p>
            <a:pPr algn="l">
              <a:spcAft>
                <a:spcPts val="600"/>
              </a:spcAft>
            </a:pPr>
            <a:r>
              <a:rPr sz="2000" b="1" i="0">
                <a:solidFill>
                  <a:srgbClr val="22D3EE"/>
                </a:solidFill>
                <a:latin typeface="Calibri"/>
              </a:rPr>
              <a:t>AI-Powered Market Sentiment &amp; Financial-Literacy Platform</a:t>
            </a:r>
          </a:p>
          <a:p>
            <a:pPr algn="l">
              <a:spcAft>
                <a:spcPts val="0"/>
              </a:spcAft>
            </a:pPr>
            <a:r>
              <a:rPr sz="1400" b="0" i="0">
                <a:solidFill>
                  <a:srgbClr val="94A3B8"/>
                </a:solidFill>
                <a:latin typeface="Calibri"/>
              </a:rPr>
              <a:t>Indian markets (NSE/BSE) with global context — one dashboard that turns scattered market signals into a clear, explained Bullish / Bearish / Uncertain view.</a:t>
            </a:r>
          </a:p>
        </p:txBody>
      </p:sp>
      <p:sp>
        <p:nvSpPr>
          <p:cNvPr id="4" name="Rounded Rectangle 3"/>
          <p:cNvSpPr/>
          <p:nvPr/>
        </p:nvSpPr>
        <p:spPr>
          <a:xfrm>
            <a:off x="822960" y="4069080"/>
            <a:ext cx="2011680" cy="384048"/>
          </a:xfrm>
          <a:prstGeom prst="roundRect">
            <a:avLst>
              <a:gd name="adj" fmla="val 8000"/>
            </a:avLst>
          </a:prstGeom>
          <a:solidFill>
            <a:srgbClr val="1A2A45"/>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22D3EE"/>
                </a:solidFill>
                <a:latin typeface="Calibri"/>
              </a:rPr>
              <a:t>AI for Finance</a:t>
            </a:r>
          </a:p>
        </p:txBody>
      </p:sp>
      <p:sp>
        <p:nvSpPr>
          <p:cNvPr id="5" name="Rounded Rectangle 4"/>
          <p:cNvSpPr/>
          <p:nvPr/>
        </p:nvSpPr>
        <p:spPr>
          <a:xfrm>
            <a:off x="2971800" y="4069080"/>
            <a:ext cx="2377440" cy="384048"/>
          </a:xfrm>
          <a:prstGeom prst="roundRect">
            <a:avLst>
              <a:gd name="adj" fmla="val 8000"/>
            </a:avLst>
          </a:prstGeom>
          <a:solidFill>
            <a:srgbClr val="1A2A45"/>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A78BFA"/>
                </a:solidFill>
                <a:latin typeface="Calibri"/>
              </a:rPr>
              <a:t>PRISM-instrumented</a:t>
            </a:r>
          </a:p>
        </p:txBody>
      </p:sp>
      <p:sp>
        <p:nvSpPr>
          <p:cNvPr id="6" name="Rounded Rectangle 5"/>
          <p:cNvSpPr/>
          <p:nvPr/>
        </p:nvSpPr>
        <p:spPr>
          <a:xfrm>
            <a:off x="5486400" y="4069080"/>
            <a:ext cx="2834640" cy="384048"/>
          </a:xfrm>
          <a:prstGeom prst="roundRect">
            <a:avLst>
              <a:gd name="adj" fmla="val 8000"/>
            </a:avLst>
          </a:prstGeom>
          <a:solidFill>
            <a:srgbClr val="1A2A45"/>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BBF24"/>
                </a:solidFill>
                <a:latin typeface="Calibri"/>
              </a:rPr>
              <a:t>Decision support, not advice</a:t>
            </a:r>
          </a:p>
        </p:txBody>
      </p:sp>
      <p:sp>
        <p:nvSpPr>
          <p:cNvPr id="7" name="TextBox 6"/>
          <p:cNvSpPr txBox="1"/>
          <p:nvPr/>
        </p:nvSpPr>
        <p:spPr>
          <a:xfrm>
            <a:off x="822960" y="5806440"/>
            <a:ext cx="10058400" cy="457200"/>
          </a:xfrm>
          <a:prstGeom prst="rect">
            <a:avLst/>
          </a:prstGeom>
          <a:noFill/>
        </p:spPr>
        <p:txBody>
          <a:bodyPr wrap="square" anchor="t">
            <a:spAutoFit/>
          </a:bodyPr>
          <a:lstStyle/>
          <a:p>
            <a:pPr algn="l">
              <a:spcAft>
                <a:spcPts val="600"/>
              </a:spcAft>
            </a:pPr>
            <a:r>
              <a:rPr sz="1200" b="0" i="0">
                <a:solidFill>
                  <a:srgbClr val="94A3B8"/>
                </a:solidFill>
                <a:latin typeface="Calibri"/>
              </a:rPr>
              <a:t>Round 1 · Pitch Deck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9601200" cy="914400"/>
          </a:xfrm>
          <a:prstGeom prst="rect">
            <a:avLst/>
          </a:prstGeom>
          <a:noFill/>
        </p:spPr>
        <p:txBody>
          <a:bodyPr wrap="square" anchor="t">
            <a:spAutoFit/>
          </a:bodyPr>
          <a:lstStyle/>
          <a:p>
            <a:pPr algn="l">
              <a:spcAft>
                <a:spcPts val="200"/>
              </a:spcAft>
            </a:pPr>
            <a:r>
              <a:rPr sz="1100" b="1" i="0">
                <a:solidFill>
                  <a:srgbClr val="22D3EE"/>
                </a:solidFill>
                <a:latin typeface="Calibri"/>
              </a:rPr>
              <a:t>SLIDE 1</a:t>
            </a:r>
          </a:p>
          <a:p>
            <a:pPr algn="l">
              <a:spcAft>
                <a:spcPts val="200"/>
              </a:spcAft>
            </a:pPr>
            <a:r>
              <a:rPr sz="2800" b="1" i="0">
                <a:solidFill>
                  <a:srgbClr val="FFFFFF"/>
                </a:solidFill>
                <a:latin typeface="Calibri"/>
              </a:rPr>
              <a:t>Problem Statement</a:t>
            </a:r>
          </a:p>
          <a:p>
            <a:pPr algn="l">
              <a:spcAft>
                <a:spcPts val="0"/>
              </a:spcAft>
            </a:pPr>
            <a:r>
              <a:rPr sz="1200" b="0" i="0">
                <a:solidFill>
                  <a:srgbClr val="94A3B8"/>
                </a:solidFill>
                <a:latin typeface="Calibri"/>
              </a:rPr>
              <a:t>What real-world problem are we trying to solve?</a:t>
            </a:r>
          </a:p>
        </p:txBody>
      </p:sp>
      <p:sp>
        <p:nvSpPr>
          <p:cNvPr id="3" name="Rectangle 2"/>
          <p:cNvSpPr/>
          <p:nvPr/>
        </p:nvSpPr>
        <p:spPr>
          <a:xfrm>
            <a:off x="530352" y="1298448"/>
            <a:ext cx="1463040"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00200"/>
            <a:ext cx="6492240" cy="5042406"/>
          </a:xfrm>
          <a:prstGeom prst="rect">
            <a:avLst/>
          </a:prstGeom>
          <a:noFill/>
        </p:spPr>
        <p:txBody>
          <a:bodyPr wrap="square" anchor="t">
            <a:spAutoFit/>
          </a:bodyPr>
          <a:lstStyle/>
          <a:p>
            <a:pPr>
              <a:spcAft>
                <a:spcPts val="1000"/>
              </a:spcAft>
            </a:pPr>
            <a:r>
              <a:rPr sz="1500" b="1" dirty="0">
                <a:solidFill>
                  <a:srgbClr val="22D3EE"/>
                </a:solidFill>
                <a:latin typeface="Calibri"/>
              </a:rPr>
              <a:t>•  </a:t>
            </a:r>
            <a:r>
              <a:rPr sz="1500" b="1" dirty="0">
                <a:solidFill>
                  <a:srgbClr val="E6EEF8"/>
                </a:solidFill>
                <a:latin typeface="Calibri"/>
              </a:rPr>
              <a:t>Beginners decide on incomplete info, </a:t>
            </a:r>
            <a:r>
              <a:rPr sz="1500" dirty="0">
                <a:solidFill>
                  <a:srgbClr val="E6EEF8"/>
                </a:solidFill>
                <a:latin typeface="Calibri"/>
              </a:rPr>
              <a:t>social-media tips &amp; emotional reactions to news</a:t>
            </a:r>
            <a:endParaRPr lang="en-US" sz="1500" dirty="0">
              <a:solidFill>
                <a:srgbClr val="E6EEF8"/>
              </a:solidFill>
              <a:latin typeface="Calibri"/>
            </a:endParaRPr>
          </a:p>
          <a:p>
            <a:pPr>
              <a:spcAft>
                <a:spcPts val="1000"/>
              </a:spcAft>
            </a:pPr>
            <a:r>
              <a:rPr lang="en-US" sz="1500" dirty="0">
                <a:solidFill>
                  <a:srgbClr val="E6EEF8"/>
                </a:solidFill>
                <a:latin typeface="Calibri"/>
              </a:rPr>
              <a:t>Investors tend to invest on their raw emotions and gut feelings, even operate and work on wrong data and indicators</a:t>
            </a:r>
          </a:p>
          <a:p>
            <a:pPr>
              <a:spcAft>
                <a:spcPts val="1000"/>
              </a:spcAft>
            </a:pPr>
            <a:r>
              <a:rPr lang="en-US" sz="1500" dirty="0">
                <a:solidFill>
                  <a:srgbClr val="E6EEF8"/>
                </a:solidFill>
                <a:latin typeface="Calibri"/>
              </a:rPr>
              <a:t>The data and info and too much spread across the internet and its very hard and time consuming for a regular trader to check and read all information and arrive to a final conclusion.</a:t>
            </a:r>
            <a:endParaRPr sz="1500" dirty="0">
              <a:solidFill>
                <a:srgbClr val="E6EEF8"/>
              </a:solidFill>
              <a:latin typeface="Calibri"/>
            </a:endParaRPr>
          </a:p>
          <a:p>
            <a:pPr>
              <a:spcAft>
                <a:spcPts val="1000"/>
              </a:spcAft>
            </a:pPr>
            <a:r>
              <a:rPr sz="1500" b="1" dirty="0">
                <a:solidFill>
                  <a:srgbClr val="22D3EE"/>
                </a:solidFill>
                <a:latin typeface="Calibri"/>
              </a:rPr>
              <a:t>•  </a:t>
            </a:r>
            <a:r>
              <a:rPr sz="1500" b="1" dirty="0">
                <a:solidFill>
                  <a:srgbClr val="E6EEF8"/>
                </a:solidFill>
                <a:latin typeface="Calibri"/>
              </a:rPr>
              <a:t>Key signals — volume, volatility, global trends, news — are public but </a:t>
            </a:r>
            <a:r>
              <a:rPr sz="1500" dirty="0">
                <a:solidFill>
                  <a:srgbClr val="E6EEF8"/>
                </a:solidFill>
                <a:latin typeface="Calibri"/>
              </a:rPr>
              <a:t>scattered across platforms</a:t>
            </a:r>
          </a:p>
          <a:p>
            <a:pPr>
              <a:spcAft>
                <a:spcPts val="1000"/>
              </a:spcAft>
            </a:pPr>
            <a:r>
              <a:rPr sz="1500" b="1" dirty="0">
                <a:solidFill>
                  <a:srgbClr val="22D3EE"/>
                </a:solidFill>
                <a:latin typeface="Calibri"/>
              </a:rPr>
              <a:t>•  </a:t>
            </a:r>
            <a:r>
              <a:rPr sz="1500" b="1" dirty="0">
                <a:solidFill>
                  <a:srgbClr val="E6EEF8"/>
                </a:solidFill>
                <a:latin typeface="Calibri"/>
              </a:rPr>
              <a:t>Without financial knowledge or time, </a:t>
            </a:r>
            <a:r>
              <a:rPr sz="1500" dirty="0">
                <a:solidFill>
                  <a:srgbClr val="E6EEF8"/>
                </a:solidFill>
                <a:latin typeface="Calibri"/>
              </a:rPr>
              <a:t>these signals cannot be interpreted together</a:t>
            </a:r>
          </a:p>
          <a:p>
            <a:pPr>
              <a:spcAft>
                <a:spcPts val="1000"/>
              </a:spcAft>
            </a:pPr>
            <a:r>
              <a:rPr sz="1500" b="1" dirty="0">
                <a:solidFill>
                  <a:srgbClr val="22D3EE"/>
                </a:solidFill>
                <a:latin typeface="Calibri"/>
              </a:rPr>
              <a:t>•  </a:t>
            </a:r>
            <a:r>
              <a:rPr sz="1500" b="1" dirty="0">
                <a:solidFill>
                  <a:srgbClr val="E6EEF8"/>
                </a:solidFill>
                <a:latin typeface="Calibri"/>
              </a:rPr>
              <a:t>Result: </a:t>
            </a:r>
            <a:r>
              <a:rPr sz="1500" dirty="0">
                <a:solidFill>
                  <a:srgbClr val="E6EEF8"/>
                </a:solidFill>
                <a:latin typeface="Calibri"/>
              </a:rPr>
              <a:t>panic buying, tip-chasing and avoidable losses</a:t>
            </a:r>
            <a:r>
              <a:rPr lang="en-US" sz="1500" dirty="0">
                <a:solidFill>
                  <a:srgbClr val="E6EEF8"/>
                </a:solidFill>
                <a:latin typeface="Calibri"/>
              </a:rPr>
              <a:t>. </a:t>
            </a:r>
          </a:p>
          <a:p>
            <a:pPr>
              <a:spcAft>
                <a:spcPts val="1000"/>
              </a:spcAft>
            </a:pPr>
            <a:r>
              <a:rPr sz="1500" b="1" dirty="0">
                <a:solidFill>
                  <a:srgbClr val="22D3EE"/>
                </a:solidFill>
                <a:latin typeface="Calibri"/>
              </a:rPr>
              <a:t>•  </a:t>
            </a:r>
            <a:r>
              <a:rPr sz="1500" b="1" dirty="0">
                <a:solidFill>
                  <a:srgbClr val="E6EEF8"/>
                </a:solidFill>
                <a:latin typeface="Calibri"/>
              </a:rPr>
              <a:t>New risk: generic AI chatbots </a:t>
            </a:r>
            <a:r>
              <a:rPr sz="1500" dirty="0">
                <a:solidFill>
                  <a:srgbClr val="E6EEF8"/>
                </a:solidFill>
                <a:latin typeface="Calibri"/>
              </a:rPr>
              <a:t>hallucinate numbers and cannot be verified</a:t>
            </a:r>
            <a:endParaRPr lang="en-US" sz="1500" dirty="0">
              <a:solidFill>
                <a:srgbClr val="E6EEF8"/>
              </a:solidFill>
              <a:latin typeface="Calibri"/>
            </a:endParaRPr>
          </a:p>
          <a:p>
            <a:pPr>
              <a:spcAft>
                <a:spcPts val="1000"/>
              </a:spcAft>
            </a:pPr>
            <a:r>
              <a:rPr lang="en-US" sz="1500" dirty="0">
                <a:solidFill>
                  <a:srgbClr val="E6EEF8"/>
                </a:solidFill>
              </a:rPr>
              <a:t>Still 90% investors in Indian market are losing making, we then to improve their decision making, and make sure they become more literate towards stock market investing.</a:t>
            </a:r>
          </a:p>
          <a:p>
            <a:pPr>
              <a:spcAft>
                <a:spcPts val="1000"/>
              </a:spcAft>
            </a:pPr>
            <a:endParaRPr sz="1500" dirty="0">
              <a:solidFill>
                <a:srgbClr val="E6EEF8"/>
              </a:solidFill>
              <a:latin typeface="Calibri"/>
            </a:endParaRPr>
          </a:p>
        </p:txBody>
      </p:sp>
      <p:sp>
        <p:nvSpPr>
          <p:cNvPr id="5" name="Rounded Rectangle 4"/>
          <p:cNvSpPr/>
          <p:nvPr/>
        </p:nvSpPr>
        <p:spPr>
          <a:xfrm>
            <a:off x="7406640" y="1691640"/>
            <a:ext cx="1828800" cy="411480"/>
          </a:xfrm>
          <a:prstGeom prst="roundRect">
            <a:avLst>
              <a:gd name="adj" fmla="val 8000"/>
            </a:avLst>
          </a:prstGeom>
          <a:solidFill>
            <a:srgbClr val="131F35"/>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34D399"/>
                </a:solidFill>
                <a:latin typeface="Calibri"/>
              </a:rPr>
              <a:t>Volume</a:t>
            </a:r>
          </a:p>
        </p:txBody>
      </p:sp>
      <p:sp>
        <p:nvSpPr>
          <p:cNvPr id="6" name="Right Arrow 5"/>
          <p:cNvSpPr/>
          <p:nvPr/>
        </p:nvSpPr>
        <p:spPr>
          <a:xfrm>
            <a:off x="9326880" y="1746504"/>
            <a:ext cx="457200" cy="27432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406640" y="2258568"/>
            <a:ext cx="1828800" cy="411480"/>
          </a:xfrm>
          <a:prstGeom prst="roundRect">
            <a:avLst>
              <a:gd name="adj" fmla="val 8000"/>
            </a:avLst>
          </a:prstGeom>
          <a:solidFill>
            <a:srgbClr val="131F35"/>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FBBF24"/>
                </a:solidFill>
                <a:latin typeface="Calibri"/>
              </a:rPr>
              <a:t>Volatility (VIX)</a:t>
            </a:r>
          </a:p>
        </p:txBody>
      </p:sp>
      <p:sp>
        <p:nvSpPr>
          <p:cNvPr id="8" name="Right Arrow 7"/>
          <p:cNvSpPr/>
          <p:nvPr/>
        </p:nvSpPr>
        <p:spPr>
          <a:xfrm>
            <a:off x="9326880" y="2313432"/>
            <a:ext cx="457200" cy="27432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406640" y="2825496"/>
            <a:ext cx="1828800" cy="411480"/>
          </a:xfrm>
          <a:prstGeom prst="roundRect">
            <a:avLst>
              <a:gd name="adj" fmla="val 8000"/>
            </a:avLst>
          </a:prstGeom>
          <a:solidFill>
            <a:srgbClr val="131F35"/>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22D3EE"/>
                </a:solidFill>
                <a:latin typeface="Calibri"/>
              </a:rPr>
              <a:t>Global trends</a:t>
            </a:r>
          </a:p>
        </p:txBody>
      </p:sp>
      <p:sp>
        <p:nvSpPr>
          <p:cNvPr id="10" name="Right Arrow 9"/>
          <p:cNvSpPr/>
          <p:nvPr/>
        </p:nvSpPr>
        <p:spPr>
          <a:xfrm>
            <a:off x="9326880" y="2880360"/>
            <a:ext cx="457200" cy="27432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406640" y="3392424"/>
            <a:ext cx="1828800" cy="411480"/>
          </a:xfrm>
          <a:prstGeom prst="roundRect">
            <a:avLst>
              <a:gd name="adj" fmla="val 8000"/>
            </a:avLst>
          </a:prstGeom>
          <a:solidFill>
            <a:srgbClr val="131F35"/>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100" b="1">
                <a:solidFill>
                  <a:srgbClr val="A78BFA"/>
                </a:solidFill>
                <a:latin typeface="Calibri"/>
              </a:rPr>
              <a:t>News flow</a:t>
            </a:r>
          </a:p>
        </p:txBody>
      </p:sp>
      <p:sp>
        <p:nvSpPr>
          <p:cNvPr id="12" name="Right Arrow 11"/>
          <p:cNvSpPr/>
          <p:nvPr/>
        </p:nvSpPr>
        <p:spPr>
          <a:xfrm>
            <a:off x="9326880" y="3447288"/>
            <a:ext cx="457200" cy="27432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921240" y="2377440"/>
            <a:ext cx="1234440" cy="1234440"/>
          </a:xfrm>
          <a:prstGeom prst="ellipse">
            <a:avLst/>
          </a:prstGeom>
          <a:solidFill>
            <a:srgbClr val="1A2A45"/>
          </a:solidFill>
          <a:ln w="1905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87171"/>
                </a:solidFill>
                <a:latin typeface="Calibri"/>
              </a:rPr>
              <a:t>?</a:t>
            </a:r>
          </a:p>
        </p:txBody>
      </p:sp>
      <p:sp>
        <p:nvSpPr>
          <p:cNvPr id="14" name="TextBox 13"/>
          <p:cNvSpPr txBox="1"/>
          <p:nvPr/>
        </p:nvSpPr>
        <p:spPr>
          <a:xfrm>
            <a:off x="9509760" y="3749040"/>
            <a:ext cx="2103120" cy="548640"/>
          </a:xfrm>
          <a:prstGeom prst="rect">
            <a:avLst/>
          </a:prstGeom>
          <a:noFill/>
        </p:spPr>
        <p:txBody>
          <a:bodyPr wrap="square" anchor="t">
            <a:spAutoFit/>
          </a:bodyPr>
          <a:lstStyle/>
          <a:p>
            <a:pPr algn="ctr">
              <a:spcAft>
                <a:spcPts val="600"/>
              </a:spcAft>
            </a:pPr>
            <a:r>
              <a:rPr sz="1300" b="1" i="0">
                <a:solidFill>
                  <a:srgbClr val="FFFFFF"/>
                </a:solidFill>
                <a:latin typeface="Calibri"/>
              </a:rPr>
              <a:t>Bullish or Bearish?</a:t>
            </a:r>
          </a:p>
        </p:txBody>
      </p:sp>
      <p:sp>
        <p:nvSpPr>
          <p:cNvPr id="15" name="TextBox 14"/>
          <p:cNvSpPr txBox="1"/>
          <p:nvPr/>
        </p:nvSpPr>
        <p:spPr>
          <a:xfrm>
            <a:off x="502920" y="6446520"/>
            <a:ext cx="8229600" cy="320040"/>
          </a:xfrm>
          <a:prstGeom prst="rect">
            <a:avLst/>
          </a:prstGeom>
          <a:noFill/>
        </p:spPr>
        <p:txBody>
          <a:bodyPr wrap="square" anchor="t">
            <a:spAutoFit/>
          </a:bodyPr>
          <a:lstStyle/>
          <a:p>
            <a:pPr algn="l">
              <a:spcAft>
                <a:spcPts val="600"/>
              </a:spcAft>
            </a:pPr>
            <a:r>
              <a:rPr sz="900" b="0" i="0">
                <a:solidFill>
                  <a:srgbClr val="94A3B8"/>
                </a:solidFill>
                <a:latin typeface="Calibri"/>
              </a:rPr>
              <a:t>MarketPulse · AI for Finance · Decision support — not investment advice</a:t>
            </a:r>
          </a:p>
        </p:txBody>
      </p:sp>
      <p:sp>
        <p:nvSpPr>
          <p:cNvPr id="16" name="TextBox 15"/>
          <p:cNvSpPr txBox="1"/>
          <p:nvPr/>
        </p:nvSpPr>
        <p:spPr>
          <a:xfrm>
            <a:off x="11247120" y="6446520"/>
            <a:ext cx="548640" cy="320040"/>
          </a:xfrm>
          <a:prstGeom prst="rect">
            <a:avLst/>
          </a:prstGeom>
          <a:noFill/>
        </p:spPr>
        <p:txBody>
          <a:bodyPr wrap="square" anchor="t">
            <a:spAutoFit/>
          </a:bodyPr>
          <a:lstStyle/>
          <a:p>
            <a:pPr algn="r">
              <a:spcAft>
                <a:spcPts val="600"/>
              </a:spcAft>
            </a:pPr>
            <a:r>
              <a:rPr sz="1000" b="0" i="0">
                <a:solidFill>
                  <a:srgbClr val="94A3B8"/>
                </a:solidFill>
                <a:latin typeface="Calibri"/>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9601200" cy="914400"/>
          </a:xfrm>
          <a:prstGeom prst="rect">
            <a:avLst/>
          </a:prstGeom>
          <a:noFill/>
        </p:spPr>
        <p:txBody>
          <a:bodyPr wrap="square" anchor="t">
            <a:spAutoFit/>
          </a:bodyPr>
          <a:lstStyle/>
          <a:p>
            <a:pPr algn="l">
              <a:spcAft>
                <a:spcPts val="200"/>
              </a:spcAft>
            </a:pPr>
            <a:r>
              <a:rPr sz="1100" b="1" i="0">
                <a:solidFill>
                  <a:srgbClr val="22D3EE"/>
                </a:solidFill>
                <a:latin typeface="Calibri"/>
              </a:rPr>
              <a:t>SLIDE 2</a:t>
            </a:r>
          </a:p>
          <a:p>
            <a:pPr algn="l">
              <a:spcAft>
                <a:spcPts val="200"/>
              </a:spcAft>
            </a:pPr>
            <a:r>
              <a:rPr sz="2800" b="1" i="0">
                <a:solidFill>
                  <a:srgbClr val="FFFFFF"/>
                </a:solidFill>
                <a:latin typeface="Calibri"/>
              </a:rPr>
              <a:t>Existing Challenges</a:t>
            </a:r>
          </a:p>
          <a:p>
            <a:pPr algn="l">
              <a:spcAft>
                <a:spcPts val="0"/>
              </a:spcAft>
            </a:pPr>
            <a:r>
              <a:rPr sz="1200" b="0" i="0">
                <a:solidFill>
                  <a:srgbClr val="94A3B8"/>
                </a:solidFill>
                <a:latin typeface="Calibri"/>
              </a:rPr>
              <a:t>What are the limitations, risks, or gaps in current solutions?</a:t>
            </a:r>
          </a:p>
        </p:txBody>
      </p:sp>
      <p:sp>
        <p:nvSpPr>
          <p:cNvPr id="3" name="Rectangle 2"/>
          <p:cNvSpPr/>
          <p:nvPr/>
        </p:nvSpPr>
        <p:spPr>
          <a:xfrm>
            <a:off x="530352" y="1298448"/>
            <a:ext cx="1463040"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00200"/>
            <a:ext cx="6126480" cy="4131900"/>
          </a:xfrm>
          <a:prstGeom prst="rect">
            <a:avLst/>
          </a:prstGeom>
          <a:noFill/>
        </p:spPr>
        <p:txBody>
          <a:bodyPr wrap="square" anchor="t">
            <a:spAutoFit/>
          </a:bodyPr>
          <a:lstStyle/>
          <a:p>
            <a:pPr>
              <a:spcAft>
                <a:spcPts val="900"/>
              </a:spcAft>
            </a:pPr>
            <a:r>
              <a:rPr sz="1400" b="1" dirty="0">
                <a:solidFill>
                  <a:srgbClr val="22D3EE"/>
                </a:solidFill>
                <a:latin typeface="Calibri"/>
              </a:rPr>
              <a:t>•  </a:t>
            </a:r>
            <a:r>
              <a:rPr sz="1400" b="1" dirty="0">
                <a:solidFill>
                  <a:srgbClr val="E6EEF8"/>
                </a:solidFill>
                <a:latin typeface="Calibri"/>
              </a:rPr>
              <a:t>Scattered tools: </a:t>
            </a:r>
            <a:r>
              <a:rPr sz="1400" dirty="0">
                <a:solidFill>
                  <a:srgbClr val="E6EEF8"/>
                </a:solidFill>
                <a:latin typeface="Calibri"/>
              </a:rPr>
              <a:t>broker apps, screeners and news feeds each show one slice — numbers without meaning</a:t>
            </a:r>
          </a:p>
          <a:p>
            <a:pPr>
              <a:spcAft>
                <a:spcPts val="900"/>
              </a:spcAft>
            </a:pPr>
            <a:r>
              <a:rPr sz="1400" b="1" dirty="0">
                <a:solidFill>
                  <a:srgbClr val="22D3EE"/>
                </a:solidFill>
                <a:latin typeface="Calibri"/>
              </a:rPr>
              <a:t>•  </a:t>
            </a:r>
            <a:r>
              <a:rPr sz="1400" b="1" dirty="0">
                <a:solidFill>
                  <a:srgbClr val="E6EEF8"/>
                </a:solidFill>
                <a:latin typeface="Calibri"/>
              </a:rPr>
              <a:t>Tip culture: </a:t>
            </a:r>
            <a:r>
              <a:rPr sz="1400" dirty="0">
                <a:solidFill>
                  <a:srgbClr val="E6EEF8"/>
                </a:solidFill>
                <a:latin typeface="Calibri"/>
              </a:rPr>
              <a:t>unverified, herd-driven, zero accountability</a:t>
            </a:r>
          </a:p>
          <a:p>
            <a:pPr>
              <a:spcAft>
                <a:spcPts val="900"/>
              </a:spcAft>
            </a:pPr>
            <a:r>
              <a:rPr sz="1400" b="1" dirty="0">
                <a:solidFill>
                  <a:srgbClr val="22D3EE"/>
                </a:solidFill>
                <a:latin typeface="Calibri"/>
              </a:rPr>
              <a:t>•  </a:t>
            </a:r>
            <a:r>
              <a:rPr sz="1400" b="1" dirty="0">
                <a:solidFill>
                  <a:srgbClr val="E6EEF8"/>
                </a:solidFill>
                <a:latin typeface="Calibri"/>
              </a:rPr>
              <a:t>Generic LLMs: </a:t>
            </a:r>
            <a:r>
              <a:rPr sz="1400" dirty="0">
                <a:solidFill>
                  <a:srgbClr val="E6EEF8"/>
                </a:solidFill>
                <a:latin typeface="Calibri"/>
              </a:rPr>
              <a:t>no live market data, no evidence, and they blur education with advice</a:t>
            </a:r>
          </a:p>
          <a:p>
            <a:pPr>
              <a:spcAft>
                <a:spcPts val="900"/>
              </a:spcAft>
            </a:pPr>
            <a:r>
              <a:rPr sz="1400" b="1" dirty="0">
                <a:solidFill>
                  <a:srgbClr val="22D3EE"/>
                </a:solidFill>
                <a:latin typeface="Calibri"/>
              </a:rPr>
              <a:t>•  </a:t>
            </a:r>
            <a:r>
              <a:rPr sz="1400" b="1" dirty="0">
                <a:solidFill>
                  <a:srgbClr val="E6EEF8"/>
                </a:solidFill>
                <a:latin typeface="Calibri"/>
              </a:rPr>
              <a:t>Black-box scores: </a:t>
            </a:r>
            <a:r>
              <a:rPr sz="1400" dirty="0">
                <a:solidFill>
                  <a:srgbClr val="E6EEF8"/>
                </a:solidFill>
                <a:latin typeface="Calibri"/>
              </a:rPr>
              <a:t>sentiment numbers with no visible reasoning</a:t>
            </a:r>
          </a:p>
          <a:p>
            <a:pPr>
              <a:spcAft>
                <a:spcPts val="900"/>
              </a:spcAft>
            </a:pPr>
            <a:r>
              <a:rPr sz="1400" b="1" dirty="0">
                <a:solidFill>
                  <a:srgbClr val="22D3EE"/>
                </a:solidFill>
                <a:latin typeface="Calibri"/>
              </a:rPr>
              <a:t>•  </a:t>
            </a:r>
            <a:r>
              <a:rPr sz="1400" b="1" dirty="0">
                <a:solidFill>
                  <a:srgbClr val="E6EEF8"/>
                </a:solidFill>
                <a:latin typeface="Calibri"/>
              </a:rPr>
              <a:t>No closed loop anywhere: </a:t>
            </a:r>
            <a:r>
              <a:rPr sz="1400" dirty="0">
                <a:solidFill>
                  <a:srgbClr val="E6EEF8"/>
                </a:solidFill>
                <a:latin typeface="Calibri"/>
              </a:rPr>
              <a:t>nobody checks whether AI explanations were actually correct — no monitoring, no failure detection, no validated improvement</a:t>
            </a:r>
            <a:endParaRPr lang="en-US" sz="1400" dirty="0">
              <a:solidFill>
                <a:srgbClr val="E6EEF8"/>
              </a:solidFill>
              <a:latin typeface="Calibri"/>
            </a:endParaRPr>
          </a:p>
          <a:p>
            <a:pPr>
              <a:spcAft>
                <a:spcPts val="900"/>
              </a:spcAft>
            </a:pPr>
            <a:endParaRPr lang="en-US" sz="1400" dirty="0">
              <a:solidFill>
                <a:srgbClr val="E6EEF8"/>
              </a:solidFill>
              <a:latin typeface="Calibri"/>
            </a:endParaRPr>
          </a:p>
          <a:p>
            <a:pPr>
              <a:spcAft>
                <a:spcPts val="900"/>
              </a:spcAft>
            </a:pPr>
            <a:r>
              <a:rPr lang="en-US" sz="1400" dirty="0">
                <a:solidFill>
                  <a:srgbClr val="E6EEF8"/>
                </a:solidFill>
                <a:latin typeface="Calibri"/>
              </a:rPr>
              <a:t>Maximum current operating solution software that are available online, don’t  show their logic and they are basically build on one for few indexes that only works for momentum trading, what we offer here is a wide range of indicators and even live news sentiments around the world in one go , that will eventually improve the decision making.</a:t>
            </a:r>
          </a:p>
          <a:p>
            <a:pPr>
              <a:spcAft>
                <a:spcPts val="900"/>
              </a:spcAft>
            </a:pPr>
            <a:endParaRPr lang="en-US" sz="1400" dirty="0">
              <a:solidFill>
                <a:srgbClr val="E6EEF8"/>
              </a:solidFill>
              <a:latin typeface="Calibri"/>
            </a:endParaRPr>
          </a:p>
        </p:txBody>
      </p:sp>
      <p:sp>
        <p:nvSpPr>
          <p:cNvPr id="5" name="Rounded Rectangle 4"/>
          <p:cNvSpPr/>
          <p:nvPr/>
        </p:nvSpPr>
        <p:spPr>
          <a:xfrm>
            <a:off x="6949440" y="1645920"/>
            <a:ext cx="2240280" cy="1143000"/>
          </a:xfrm>
          <a:prstGeom prst="roundRect">
            <a:avLst>
              <a:gd name="adj" fmla="val 8000"/>
            </a:avLst>
          </a:prstGeom>
          <a:solidFill>
            <a:srgbClr val="131F35"/>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pPr algn="ctr"/>
            <a:r>
              <a:rPr sz="1300" b="1">
                <a:solidFill>
                  <a:srgbClr val="FFFFFF"/>
                </a:solidFill>
                <a:latin typeface="Calibri"/>
              </a:rPr>
              <a:t>✗ Broker apps</a:t>
            </a:r>
          </a:p>
          <a:p>
            <a:r>
              <a:rPr sz="1050">
                <a:solidFill>
                  <a:srgbClr val="94A3B8"/>
                </a:solidFill>
                <a:latin typeface="Calibri"/>
              </a:rPr>
              <a:t>one broker's view only</a:t>
            </a:r>
          </a:p>
        </p:txBody>
      </p:sp>
      <p:sp>
        <p:nvSpPr>
          <p:cNvPr id="6" name="Rounded Rectangle 5"/>
          <p:cNvSpPr/>
          <p:nvPr/>
        </p:nvSpPr>
        <p:spPr>
          <a:xfrm>
            <a:off x="9418320" y="1645920"/>
            <a:ext cx="2240280" cy="1143000"/>
          </a:xfrm>
          <a:prstGeom prst="roundRect">
            <a:avLst>
              <a:gd name="adj" fmla="val 8000"/>
            </a:avLst>
          </a:prstGeom>
          <a:solidFill>
            <a:srgbClr val="131F35"/>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pPr algn="ctr"/>
            <a:r>
              <a:rPr sz="1300" b="1">
                <a:solidFill>
                  <a:srgbClr val="FFFFFF"/>
                </a:solidFill>
                <a:latin typeface="Calibri"/>
              </a:rPr>
              <a:t>✗ Tip culture</a:t>
            </a:r>
          </a:p>
          <a:p>
            <a:r>
              <a:rPr sz="1050">
                <a:solidFill>
                  <a:srgbClr val="94A3B8"/>
                </a:solidFill>
                <a:latin typeface="Calibri"/>
              </a:rPr>
              <a:t>unverified forwards</a:t>
            </a:r>
          </a:p>
        </p:txBody>
      </p:sp>
      <p:sp>
        <p:nvSpPr>
          <p:cNvPr id="7" name="Rounded Rectangle 6"/>
          <p:cNvSpPr/>
          <p:nvPr/>
        </p:nvSpPr>
        <p:spPr>
          <a:xfrm>
            <a:off x="6949440" y="3017520"/>
            <a:ext cx="2240280" cy="1143000"/>
          </a:xfrm>
          <a:prstGeom prst="roundRect">
            <a:avLst>
              <a:gd name="adj" fmla="val 8000"/>
            </a:avLst>
          </a:prstGeom>
          <a:solidFill>
            <a:srgbClr val="131F35"/>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pPr algn="ctr"/>
            <a:r>
              <a:rPr sz="1300" b="1">
                <a:solidFill>
                  <a:srgbClr val="FFFFFF"/>
                </a:solidFill>
                <a:latin typeface="Calibri"/>
              </a:rPr>
              <a:t>✗ Generic LLMs</a:t>
            </a:r>
          </a:p>
          <a:p>
            <a:r>
              <a:rPr sz="1050">
                <a:solidFill>
                  <a:srgbClr val="94A3B8"/>
                </a:solidFill>
                <a:latin typeface="Calibri"/>
              </a:rPr>
              <a:t>stale, unverifiable</a:t>
            </a:r>
          </a:p>
        </p:txBody>
      </p:sp>
      <p:sp>
        <p:nvSpPr>
          <p:cNvPr id="8" name="Rounded Rectangle 7"/>
          <p:cNvSpPr/>
          <p:nvPr/>
        </p:nvSpPr>
        <p:spPr>
          <a:xfrm>
            <a:off x="9418320" y="3017520"/>
            <a:ext cx="2240280" cy="1143000"/>
          </a:xfrm>
          <a:prstGeom prst="roundRect">
            <a:avLst>
              <a:gd name="adj" fmla="val 8000"/>
            </a:avLst>
          </a:prstGeom>
          <a:solidFill>
            <a:srgbClr val="131F35"/>
          </a:solidFill>
          <a:ln>
            <a:noFill/>
          </a:ln>
          <a:effectLst/>
        </p:spPr>
        <p:style>
          <a:lnRef idx="1">
            <a:schemeClr val="accent1"/>
          </a:lnRef>
          <a:fillRef idx="3">
            <a:schemeClr val="accent1"/>
          </a:fillRef>
          <a:effectRef idx="2">
            <a:schemeClr val="accent1"/>
          </a:effectRef>
          <a:fontRef idx="minor">
            <a:schemeClr val="lt1"/>
          </a:fontRef>
        </p:style>
        <p:txBody>
          <a:bodyPr lIns="137160" rtlCol="0" anchor="ctr"/>
          <a:lstStyle/>
          <a:p>
            <a:pPr algn="ctr"/>
            <a:r>
              <a:rPr sz="1300" b="1">
                <a:solidFill>
                  <a:srgbClr val="FFFFFF"/>
                </a:solidFill>
                <a:latin typeface="Calibri"/>
              </a:rPr>
              <a:t>✗ Black-box scores</a:t>
            </a:r>
          </a:p>
          <a:p>
            <a:r>
              <a:rPr sz="1050">
                <a:solidFill>
                  <a:srgbClr val="94A3B8"/>
                </a:solidFill>
                <a:latin typeface="Calibri"/>
              </a:rPr>
              <a:t>no reasoning shown</a:t>
            </a:r>
          </a:p>
        </p:txBody>
      </p:sp>
      <p:sp>
        <p:nvSpPr>
          <p:cNvPr id="9" name="Rounded Rectangle 8"/>
          <p:cNvSpPr/>
          <p:nvPr/>
        </p:nvSpPr>
        <p:spPr>
          <a:xfrm>
            <a:off x="6949440" y="4526280"/>
            <a:ext cx="4709160" cy="502920"/>
          </a:xfrm>
          <a:prstGeom prst="roundRect">
            <a:avLst>
              <a:gd name="adj" fmla="val 8000"/>
            </a:avLst>
          </a:prstGeom>
          <a:solidFill>
            <a:srgbClr val="1A2A45"/>
          </a:solidFill>
          <a:ln w="12700">
            <a:solidFill>
              <a:srgbClr val="FBBF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BBF24"/>
                </a:solidFill>
                <a:latin typeface="Calibri"/>
              </a:rPr>
              <a:t>No system monitors the AI itself.</a:t>
            </a:r>
          </a:p>
        </p:txBody>
      </p:sp>
      <p:sp>
        <p:nvSpPr>
          <p:cNvPr id="10" name="TextBox 9"/>
          <p:cNvSpPr txBox="1"/>
          <p:nvPr/>
        </p:nvSpPr>
        <p:spPr>
          <a:xfrm>
            <a:off x="502920" y="6446520"/>
            <a:ext cx="8229600" cy="320040"/>
          </a:xfrm>
          <a:prstGeom prst="rect">
            <a:avLst/>
          </a:prstGeom>
          <a:noFill/>
        </p:spPr>
        <p:txBody>
          <a:bodyPr wrap="square" anchor="t">
            <a:spAutoFit/>
          </a:bodyPr>
          <a:lstStyle/>
          <a:p>
            <a:pPr algn="l">
              <a:spcAft>
                <a:spcPts val="600"/>
              </a:spcAft>
            </a:pPr>
            <a:r>
              <a:rPr sz="900" b="0" i="0">
                <a:solidFill>
                  <a:srgbClr val="94A3B8"/>
                </a:solidFill>
                <a:latin typeface="Calibri"/>
              </a:rPr>
              <a:t>MarketPulse · AI for Finance · Decision support — not investment advice</a:t>
            </a:r>
          </a:p>
        </p:txBody>
      </p:sp>
      <p:sp>
        <p:nvSpPr>
          <p:cNvPr id="11" name="TextBox 10"/>
          <p:cNvSpPr txBox="1"/>
          <p:nvPr/>
        </p:nvSpPr>
        <p:spPr>
          <a:xfrm>
            <a:off x="11247120" y="6446520"/>
            <a:ext cx="548640" cy="320040"/>
          </a:xfrm>
          <a:prstGeom prst="rect">
            <a:avLst/>
          </a:prstGeom>
          <a:noFill/>
        </p:spPr>
        <p:txBody>
          <a:bodyPr wrap="square" anchor="t">
            <a:spAutoFit/>
          </a:bodyPr>
          <a:lstStyle/>
          <a:p>
            <a:pPr algn="r">
              <a:spcAft>
                <a:spcPts val="600"/>
              </a:spcAft>
            </a:pPr>
            <a:r>
              <a:rPr sz="1000" b="0" i="0">
                <a:solidFill>
                  <a:srgbClr val="94A3B8"/>
                </a:solidFill>
                <a:latin typeface="Calibri"/>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9601200" cy="914400"/>
          </a:xfrm>
          <a:prstGeom prst="rect">
            <a:avLst/>
          </a:prstGeom>
          <a:noFill/>
        </p:spPr>
        <p:txBody>
          <a:bodyPr wrap="square" anchor="t">
            <a:spAutoFit/>
          </a:bodyPr>
          <a:lstStyle/>
          <a:p>
            <a:pPr algn="l">
              <a:spcAft>
                <a:spcPts val="200"/>
              </a:spcAft>
            </a:pPr>
            <a:r>
              <a:rPr sz="1100" b="1" i="0">
                <a:solidFill>
                  <a:srgbClr val="22D3EE"/>
                </a:solidFill>
                <a:latin typeface="Calibri"/>
              </a:rPr>
              <a:t>SLIDE 3</a:t>
            </a:r>
          </a:p>
          <a:p>
            <a:pPr algn="l">
              <a:spcAft>
                <a:spcPts val="200"/>
              </a:spcAft>
            </a:pPr>
            <a:r>
              <a:rPr sz="2800" b="1" i="0">
                <a:solidFill>
                  <a:srgbClr val="FFFFFF"/>
                </a:solidFill>
                <a:latin typeface="Calibri"/>
              </a:rPr>
              <a:t>Proposed Solution</a:t>
            </a:r>
          </a:p>
          <a:p>
            <a:pPr algn="l">
              <a:spcAft>
                <a:spcPts val="0"/>
              </a:spcAft>
            </a:pPr>
            <a:r>
              <a:rPr sz="1200" b="0" i="0">
                <a:solidFill>
                  <a:srgbClr val="94A3B8"/>
                </a:solidFill>
                <a:latin typeface="Calibri"/>
              </a:rPr>
              <a:t>What solution are we proposing and how does it solve the problem?</a:t>
            </a:r>
          </a:p>
        </p:txBody>
      </p:sp>
      <p:sp>
        <p:nvSpPr>
          <p:cNvPr id="3" name="Rectangle 2"/>
          <p:cNvSpPr/>
          <p:nvPr/>
        </p:nvSpPr>
        <p:spPr>
          <a:xfrm>
            <a:off x="530352" y="1298448"/>
            <a:ext cx="1463040"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00200"/>
            <a:ext cx="6492240" cy="4793620"/>
          </a:xfrm>
          <a:prstGeom prst="rect">
            <a:avLst/>
          </a:prstGeom>
          <a:noFill/>
        </p:spPr>
        <p:txBody>
          <a:bodyPr wrap="square" anchor="t">
            <a:spAutoFit/>
          </a:bodyPr>
          <a:lstStyle/>
          <a:p>
            <a:pPr>
              <a:spcAft>
                <a:spcPts val="900"/>
              </a:spcAft>
            </a:pPr>
            <a:r>
              <a:rPr sz="1400" b="1" dirty="0">
                <a:solidFill>
                  <a:srgbClr val="22D3EE"/>
                </a:solidFill>
                <a:latin typeface="Calibri"/>
              </a:rPr>
              <a:t>•  </a:t>
            </a:r>
            <a:r>
              <a:rPr sz="1400" b="1" dirty="0" err="1">
                <a:solidFill>
                  <a:srgbClr val="E6EEF8"/>
                </a:solidFill>
                <a:latin typeface="Calibri"/>
              </a:rPr>
              <a:t>MarketPulse</a:t>
            </a:r>
            <a:r>
              <a:rPr sz="1400" b="1" dirty="0">
                <a:solidFill>
                  <a:srgbClr val="E6EEF8"/>
                </a:solidFill>
                <a:latin typeface="Calibri"/>
              </a:rPr>
              <a:t>: </a:t>
            </a:r>
            <a:r>
              <a:rPr sz="1400" dirty="0">
                <a:solidFill>
                  <a:srgbClr val="E6EEF8"/>
                </a:solidFill>
                <a:latin typeface="Calibri"/>
              </a:rPr>
              <a:t>AI decision-support dashboard for Indian markets (NSE/BSE) with global-market context</a:t>
            </a:r>
          </a:p>
          <a:p>
            <a:pPr>
              <a:spcAft>
                <a:spcPts val="900"/>
              </a:spcAft>
            </a:pPr>
            <a:r>
              <a:rPr sz="1400" b="1" dirty="0">
                <a:solidFill>
                  <a:srgbClr val="22D3EE"/>
                </a:solidFill>
                <a:latin typeface="Calibri"/>
              </a:rPr>
              <a:t>•  </a:t>
            </a:r>
            <a:r>
              <a:rPr sz="1400" b="1" dirty="0">
                <a:solidFill>
                  <a:srgbClr val="E6EEF8"/>
                </a:solidFill>
                <a:latin typeface="Calibri"/>
              </a:rPr>
              <a:t>20+ validated indicators </a:t>
            </a:r>
            <a:r>
              <a:rPr sz="1400" dirty="0">
                <a:solidFill>
                  <a:srgbClr val="E6EEF8"/>
                </a:solidFill>
                <a:latin typeface="Calibri"/>
              </a:rPr>
              <a:t>— 50/200-DMA trend, MACD, RSI, India VIX, market breadth, volume profile, 52-week structure, global cues (DXY, crude, gold, US yields), news sentiment — fused into one Bearish → Bullish score</a:t>
            </a:r>
          </a:p>
          <a:p>
            <a:pPr>
              <a:spcAft>
                <a:spcPts val="900"/>
              </a:spcAft>
            </a:pPr>
            <a:r>
              <a:rPr sz="1400" b="1" dirty="0">
                <a:solidFill>
                  <a:srgbClr val="22D3EE"/>
                </a:solidFill>
                <a:latin typeface="Calibri"/>
              </a:rPr>
              <a:t>•  </a:t>
            </a:r>
            <a:r>
              <a:rPr sz="1400" b="1" dirty="0">
                <a:solidFill>
                  <a:srgbClr val="E6EEF8"/>
                </a:solidFill>
                <a:latin typeface="Calibri"/>
              </a:rPr>
              <a:t>Zero black box: </a:t>
            </a:r>
            <a:r>
              <a:rPr sz="1400" dirty="0">
                <a:solidFill>
                  <a:srgbClr val="E6EEF8"/>
                </a:solidFill>
                <a:latin typeface="Calibri"/>
              </a:rPr>
              <a:t>every signal explained in plain English with its “why”</a:t>
            </a:r>
          </a:p>
          <a:p>
            <a:pPr>
              <a:spcAft>
                <a:spcPts val="900"/>
              </a:spcAft>
            </a:pPr>
            <a:r>
              <a:rPr sz="1400" b="1" dirty="0">
                <a:solidFill>
                  <a:srgbClr val="22D3EE"/>
                </a:solidFill>
                <a:latin typeface="Calibri"/>
              </a:rPr>
              <a:t>•  </a:t>
            </a:r>
            <a:r>
              <a:rPr sz="1400" b="1" dirty="0">
                <a:solidFill>
                  <a:srgbClr val="E6EEF8"/>
                </a:solidFill>
                <a:latin typeface="Calibri"/>
              </a:rPr>
              <a:t>Grounded AI: </a:t>
            </a:r>
            <a:r>
              <a:rPr sz="1400" dirty="0">
                <a:solidFill>
                  <a:srgbClr val="E6EEF8"/>
                </a:solidFill>
                <a:latin typeface="Calibri"/>
              </a:rPr>
              <a:t>the LLM may only explain computed signals — never invent data — behind an advice-safety guardrail</a:t>
            </a:r>
          </a:p>
          <a:p>
            <a:pPr>
              <a:spcAft>
                <a:spcPts val="900"/>
              </a:spcAft>
            </a:pPr>
            <a:r>
              <a:rPr sz="1400" b="1" dirty="0">
                <a:solidFill>
                  <a:srgbClr val="22D3EE"/>
                </a:solidFill>
                <a:latin typeface="Calibri"/>
              </a:rPr>
              <a:t>•  </a:t>
            </a:r>
            <a:r>
              <a:rPr sz="1400" b="1" dirty="0">
                <a:solidFill>
                  <a:srgbClr val="E6EEF8"/>
                </a:solidFill>
                <a:latin typeface="Calibri"/>
              </a:rPr>
              <a:t>Literacy layer: </a:t>
            </a:r>
            <a:r>
              <a:rPr sz="1400" dirty="0">
                <a:solidFill>
                  <a:srgbClr val="E6EEF8"/>
                </a:solidFill>
                <a:latin typeface="Calibri"/>
              </a:rPr>
              <a:t>“What is this?” explainers on every card, glossary, beginner mode</a:t>
            </a:r>
            <a:endParaRPr lang="en-US" sz="1400" dirty="0">
              <a:solidFill>
                <a:srgbClr val="E6EEF8"/>
              </a:solidFill>
              <a:latin typeface="Calibri"/>
            </a:endParaRPr>
          </a:p>
          <a:p>
            <a:pPr>
              <a:spcAft>
                <a:spcPts val="900"/>
              </a:spcAft>
            </a:pPr>
            <a:endParaRPr lang="en-US" sz="1400" dirty="0">
              <a:solidFill>
                <a:srgbClr val="E6EEF8"/>
              </a:solidFill>
              <a:latin typeface="Calibri"/>
            </a:endParaRPr>
          </a:p>
          <a:p>
            <a:pPr>
              <a:spcAft>
                <a:spcPts val="900"/>
              </a:spcAft>
            </a:pPr>
            <a:r>
              <a:rPr lang="en-US" sz="1400" dirty="0">
                <a:solidFill>
                  <a:srgbClr val="E6EEF8"/>
                </a:solidFill>
                <a:latin typeface="Calibri"/>
              </a:rPr>
              <a:t>What we do is pretty simple, we see all possible data and news regarding the stock and give a final suggestion about the stock’s future, </a:t>
            </a:r>
          </a:p>
          <a:p>
            <a:pPr>
              <a:spcAft>
                <a:spcPts val="900"/>
              </a:spcAft>
            </a:pPr>
            <a:r>
              <a:rPr lang="en-US" sz="1400" dirty="0">
                <a:solidFill>
                  <a:srgbClr val="E6EEF8"/>
                </a:solidFill>
                <a:latin typeface="Calibri"/>
              </a:rPr>
              <a:t>We will check many indicators and, even the news and market sentiment will be taken into the account.</a:t>
            </a:r>
          </a:p>
          <a:p>
            <a:pPr>
              <a:spcAft>
                <a:spcPts val="900"/>
              </a:spcAft>
            </a:pPr>
            <a:r>
              <a:rPr lang="en-US" sz="1400" dirty="0">
                <a:solidFill>
                  <a:srgbClr val="E6EEF8"/>
                </a:solidFill>
                <a:latin typeface="Calibri"/>
              </a:rPr>
              <a:t>We will even share and explain the logic behind our suggestion and will improve the decision making of the user</a:t>
            </a:r>
          </a:p>
          <a:p>
            <a:pPr>
              <a:spcAft>
                <a:spcPts val="900"/>
              </a:spcAft>
            </a:pPr>
            <a:endParaRPr sz="1400" dirty="0">
              <a:solidFill>
                <a:srgbClr val="E6EEF8"/>
              </a:solidFill>
              <a:latin typeface="Calibri"/>
            </a:endParaRPr>
          </a:p>
        </p:txBody>
      </p:sp>
      <p:sp>
        <p:nvSpPr>
          <p:cNvPr id="5" name="Rounded Rectangle 4"/>
          <p:cNvSpPr/>
          <p:nvPr/>
        </p:nvSpPr>
        <p:spPr>
          <a:xfrm>
            <a:off x="7360920" y="1645920"/>
            <a:ext cx="4297680" cy="4160520"/>
          </a:xfrm>
          <a:prstGeom prst="roundRect">
            <a:avLst>
              <a:gd name="adj" fmla="val 8000"/>
            </a:avLst>
          </a:prstGeom>
          <a:solidFill>
            <a:srgbClr val="131F35"/>
          </a:solidFill>
          <a:ln w="12700">
            <a:solidFill>
              <a:srgbClr val="1A2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589520" y="1828800"/>
            <a:ext cx="3840480" cy="457200"/>
          </a:xfrm>
          <a:prstGeom prst="rect">
            <a:avLst/>
          </a:prstGeom>
          <a:noFill/>
        </p:spPr>
        <p:txBody>
          <a:bodyPr wrap="square" anchor="t">
            <a:spAutoFit/>
          </a:bodyPr>
          <a:lstStyle/>
          <a:p>
            <a:pPr algn="l">
              <a:spcAft>
                <a:spcPts val="600"/>
              </a:spcAft>
            </a:pPr>
            <a:r>
              <a:rPr sz="1200" b="0" i="0">
                <a:solidFill>
                  <a:srgbClr val="94A3B8"/>
                </a:solidFill>
                <a:latin typeface="Calibri"/>
              </a:rPr>
              <a:t>MarketPulse — today</a:t>
            </a:r>
          </a:p>
        </p:txBody>
      </p:sp>
      <p:sp>
        <p:nvSpPr>
          <p:cNvPr id="7" name="Rounded Rectangle 6"/>
          <p:cNvSpPr/>
          <p:nvPr/>
        </p:nvSpPr>
        <p:spPr>
          <a:xfrm>
            <a:off x="7589520" y="2240280"/>
            <a:ext cx="1645920" cy="1051560"/>
          </a:xfrm>
          <a:prstGeom prst="roundRect">
            <a:avLst>
              <a:gd name="adj" fmla="val 8000"/>
            </a:avLst>
          </a:prstGeom>
          <a:solidFill>
            <a:srgbClr val="1A2A45"/>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34D399"/>
                </a:solidFill>
                <a:latin typeface="Calibri"/>
              </a:rPr>
              <a:t>+62</a:t>
            </a:r>
          </a:p>
          <a:p>
            <a:pPr algn="ctr"/>
            <a:r>
              <a:rPr sz="1100">
                <a:solidFill>
                  <a:srgbClr val="E6EEF8"/>
                </a:solidFill>
                <a:latin typeface="Calibri"/>
              </a:rPr>
              <a:t>Optimistic</a:t>
            </a:r>
          </a:p>
        </p:txBody>
      </p:sp>
      <p:sp>
        <p:nvSpPr>
          <p:cNvPr id="8" name="Block Arc 7"/>
          <p:cNvSpPr/>
          <p:nvPr/>
        </p:nvSpPr>
        <p:spPr>
          <a:xfrm>
            <a:off x="9464040" y="2103120"/>
            <a:ext cx="1920240" cy="1920240"/>
          </a:xfrm>
          <a:prstGeom prst="blockArc">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464040" y="3063240"/>
            <a:ext cx="1920240" cy="457200"/>
          </a:xfrm>
          <a:prstGeom prst="rect">
            <a:avLst/>
          </a:prstGeom>
          <a:noFill/>
        </p:spPr>
        <p:txBody>
          <a:bodyPr wrap="square" anchor="t">
            <a:spAutoFit/>
          </a:bodyPr>
          <a:lstStyle/>
          <a:p>
            <a:pPr algn="ctr">
              <a:spcAft>
                <a:spcPts val="600"/>
              </a:spcAft>
            </a:pPr>
            <a:r>
              <a:rPr sz="2200" b="1" i="0">
                <a:solidFill>
                  <a:srgbClr val="FFFFFF"/>
                </a:solidFill>
                <a:latin typeface="Calibri"/>
              </a:rPr>
              <a:t>62</a:t>
            </a:r>
          </a:p>
        </p:txBody>
      </p:sp>
      <p:sp>
        <p:nvSpPr>
          <p:cNvPr id="10" name="Rounded Rectangle 9"/>
          <p:cNvSpPr/>
          <p:nvPr/>
        </p:nvSpPr>
        <p:spPr>
          <a:xfrm>
            <a:off x="7589520" y="3429000"/>
            <a:ext cx="2377440" cy="365760"/>
          </a:xfrm>
          <a:prstGeom prst="roundRect">
            <a:avLst>
              <a:gd name="adj" fmla="val 8000"/>
            </a:avLst>
          </a:prstGeom>
          <a:solidFill>
            <a:srgbClr val="1A2A45"/>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a:solidFill>
                  <a:srgbClr val="E6EEF8"/>
                </a:solidFill>
                <a:latin typeface="Calibri"/>
              </a:rPr>
              <a:t>Trend</a:t>
            </a:r>
          </a:p>
        </p:txBody>
      </p:sp>
      <p:sp>
        <p:nvSpPr>
          <p:cNvPr id="11" name="TextBox 10"/>
          <p:cNvSpPr txBox="1"/>
          <p:nvPr/>
        </p:nvSpPr>
        <p:spPr>
          <a:xfrm>
            <a:off x="10104120" y="3447288"/>
            <a:ext cx="1371600" cy="320040"/>
          </a:xfrm>
          <a:prstGeom prst="rect">
            <a:avLst/>
          </a:prstGeom>
          <a:noFill/>
        </p:spPr>
        <p:txBody>
          <a:bodyPr wrap="square" anchor="t">
            <a:spAutoFit/>
          </a:bodyPr>
          <a:lstStyle/>
          <a:p>
            <a:pPr algn="l">
              <a:spcAft>
                <a:spcPts val="600"/>
              </a:spcAft>
            </a:pPr>
            <a:r>
              <a:rPr sz="900" b="0" i="0">
                <a:solidFill>
                  <a:srgbClr val="34D399"/>
                </a:solidFill>
                <a:latin typeface="Calibri"/>
              </a:rPr>
              <a:t>+ why: plain-English reason</a:t>
            </a:r>
          </a:p>
        </p:txBody>
      </p:sp>
      <p:sp>
        <p:nvSpPr>
          <p:cNvPr id="12" name="Rounded Rectangle 11"/>
          <p:cNvSpPr/>
          <p:nvPr/>
        </p:nvSpPr>
        <p:spPr>
          <a:xfrm>
            <a:off x="7589520" y="3904488"/>
            <a:ext cx="2377440" cy="365760"/>
          </a:xfrm>
          <a:prstGeom prst="roundRect">
            <a:avLst>
              <a:gd name="adj" fmla="val 8000"/>
            </a:avLst>
          </a:prstGeom>
          <a:solidFill>
            <a:srgbClr val="1A2A45"/>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a:solidFill>
                  <a:srgbClr val="E6EEF8"/>
                </a:solidFill>
                <a:latin typeface="Calibri"/>
              </a:rPr>
              <a:t>Volatility</a:t>
            </a:r>
          </a:p>
        </p:txBody>
      </p:sp>
      <p:sp>
        <p:nvSpPr>
          <p:cNvPr id="13" name="TextBox 12"/>
          <p:cNvSpPr txBox="1"/>
          <p:nvPr/>
        </p:nvSpPr>
        <p:spPr>
          <a:xfrm>
            <a:off x="10104120" y="3922776"/>
            <a:ext cx="1371600" cy="320040"/>
          </a:xfrm>
          <a:prstGeom prst="rect">
            <a:avLst/>
          </a:prstGeom>
          <a:noFill/>
        </p:spPr>
        <p:txBody>
          <a:bodyPr wrap="square" anchor="t">
            <a:spAutoFit/>
          </a:bodyPr>
          <a:lstStyle/>
          <a:p>
            <a:pPr algn="l">
              <a:spcAft>
                <a:spcPts val="600"/>
              </a:spcAft>
            </a:pPr>
            <a:r>
              <a:rPr sz="900" b="0" i="0">
                <a:solidFill>
                  <a:srgbClr val="F87171"/>
                </a:solidFill>
                <a:latin typeface="Calibri"/>
              </a:rPr>
              <a:t>− why: plain-English reason</a:t>
            </a:r>
          </a:p>
        </p:txBody>
      </p:sp>
      <p:sp>
        <p:nvSpPr>
          <p:cNvPr id="14" name="Rounded Rectangle 13"/>
          <p:cNvSpPr/>
          <p:nvPr/>
        </p:nvSpPr>
        <p:spPr>
          <a:xfrm>
            <a:off x="7589520" y="4379976"/>
            <a:ext cx="2377440" cy="365760"/>
          </a:xfrm>
          <a:prstGeom prst="roundRect">
            <a:avLst>
              <a:gd name="adj" fmla="val 8000"/>
            </a:avLst>
          </a:prstGeom>
          <a:solidFill>
            <a:srgbClr val="1A2A45"/>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a:solidFill>
                  <a:srgbClr val="E6EEF8"/>
                </a:solidFill>
                <a:latin typeface="Calibri"/>
              </a:rPr>
              <a:t>News</a:t>
            </a:r>
          </a:p>
        </p:txBody>
      </p:sp>
      <p:sp>
        <p:nvSpPr>
          <p:cNvPr id="15" name="TextBox 14"/>
          <p:cNvSpPr txBox="1"/>
          <p:nvPr/>
        </p:nvSpPr>
        <p:spPr>
          <a:xfrm>
            <a:off x="10104120" y="4398264"/>
            <a:ext cx="1371600" cy="320040"/>
          </a:xfrm>
          <a:prstGeom prst="rect">
            <a:avLst/>
          </a:prstGeom>
          <a:noFill/>
        </p:spPr>
        <p:txBody>
          <a:bodyPr wrap="square" anchor="t">
            <a:spAutoFit/>
          </a:bodyPr>
          <a:lstStyle/>
          <a:p>
            <a:pPr algn="l">
              <a:spcAft>
                <a:spcPts val="600"/>
              </a:spcAft>
            </a:pPr>
            <a:r>
              <a:rPr sz="900" b="0" i="0">
                <a:solidFill>
                  <a:srgbClr val="34D399"/>
                </a:solidFill>
                <a:latin typeface="Calibri"/>
              </a:rPr>
              <a:t>+ why: plain-English reason</a:t>
            </a:r>
          </a:p>
        </p:txBody>
      </p:sp>
      <p:sp>
        <p:nvSpPr>
          <p:cNvPr id="16" name="Rounded Rectangle 15"/>
          <p:cNvSpPr/>
          <p:nvPr/>
        </p:nvSpPr>
        <p:spPr>
          <a:xfrm>
            <a:off x="7589520" y="4855464"/>
            <a:ext cx="2377440" cy="365760"/>
          </a:xfrm>
          <a:prstGeom prst="roundRect">
            <a:avLst>
              <a:gd name="adj" fmla="val 8000"/>
            </a:avLst>
          </a:prstGeom>
          <a:solidFill>
            <a:srgbClr val="1A2A45"/>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a:solidFill>
                  <a:srgbClr val="E6EEF8"/>
                </a:solidFill>
                <a:latin typeface="Calibri"/>
              </a:rPr>
              <a:t>Global cues</a:t>
            </a:r>
          </a:p>
        </p:txBody>
      </p:sp>
      <p:sp>
        <p:nvSpPr>
          <p:cNvPr id="17" name="TextBox 16"/>
          <p:cNvSpPr txBox="1"/>
          <p:nvPr/>
        </p:nvSpPr>
        <p:spPr>
          <a:xfrm>
            <a:off x="10104120" y="4873752"/>
            <a:ext cx="1371600" cy="320040"/>
          </a:xfrm>
          <a:prstGeom prst="rect">
            <a:avLst/>
          </a:prstGeom>
          <a:noFill/>
        </p:spPr>
        <p:txBody>
          <a:bodyPr wrap="square" anchor="t">
            <a:spAutoFit/>
          </a:bodyPr>
          <a:lstStyle/>
          <a:p>
            <a:pPr algn="l">
              <a:spcAft>
                <a:spcPts val="600"/>
              </a:spcAft>
            </a:pPr>
            <a:r>
              <a:rPr sz="900" b="0" i="0">
                <a:solidFill>
                  <a:srgbClr val="F87171"/>
                </a:solidFill>
                <a:latin typeface="Calibri"/>
              </a:rPr>
              <a:t>− why: plain-English reason</a:t>
            </a:r>
          </a:p>
        </p:txBody>
      </p:sp>
      <p:sp>
        <p:nvSpPr>
          <p:cNvPr id="18" name="TextBox 17"/>
          <p:cNvSpPr txBox="1"/>
          <p:nvPr/>
        </p:nvSpPr>
        <p:spPr>
          <a:xfrm>
            <a:off x="502920" y="6446520"/>
            <a:ext cx="8229600" cy="320040"/>
          </a:xfrm>
          <a:prstGeom prst="rect">
            <a:avLst/>
          </a:prstGeom>
          <a:noFill/>
        </p:spPr>
        <p:txBody>
          <a:bodyPr wrap="square" anchor="t">
            <a:spAutoFit/>
          </a:bodyPr>
          <a:lstStyle/>
          <a:p>
            <a:pPr algn="l">
              <a:spcAft>
                <a:spcPts val="600"/>
              </a:spcAft>
            </a:pPr>
            <a:r>
              <a:rPr sz="900" b="0" i="0">
                <a:solidFill>
                  <a:srgbClr val="94A3B8"/>
                </a:solidFill>
                <a:latin typeface="Calibri"/>
              </a:rPr>
              <a:t>MarketPulse · AI for Finance · Decision support — not investment advice</a:t>
            </a:r>
          </a:p>
        </p:txBody>
      </p:sp>
      <p:sp>
        <p:nvSpPr>
          <p:cNvPr id="19" name="TextBox 18"/>
          <p:cNvSpPr txBox="1"/>
          <p:nvPr/>
        </p:nvSpPr>
        <p:spPr>
          <a:xfrm>
            <a:off x="11247120" y="6446520"/>
            <a:ext cx="548640" cy="320040"/>
          </a:xfrm>
          <a:prstGeom prst="rect">
            <a:avLst/>
          </a:prstGeom>
          <a:noFill/>
        </p:spPr>
        <p:txBody>
          <a:bodyPr wrap="square" anchor="t">
            <a:spAutoFit/>
          </a:bodyPr>
          <a:lstStyle/>
          <a:p>
            <a:pPr algn="r">
              <a:spcAft>
                <a:spcPts val="600"/>
              </a:spcAft>
            </a:pPr>
            <a:r>
              <a:rPr sz="1000" b="0" i="0">
                <a:solidFill>
                  <a:srgbClr val="94A3B8"/>
                </a:solidFill>
                <a:latin typeface="Calibri"/>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9601200" cy="914400"/>
          </a:xfrm>
          <a:prstGeom prst="rect">
            <a:avLst/>
          </a:prstGeom>
          <a:noFill/>
        </p:spPr>
        <p:txBody>
          <a:bodyPr wrap="square" anchor="t">
            <a:spAutoFit/>
          </a:bodyPr>
          <a:lstStyle/>
          <a:p>
            <a:pPr algn="l">
              <a:spcAft>
                <a:spcPts val="200"/>
              </a:spcAft>
            </a:pPr>
            <a:r>
              <a:rPr sz="1100" b="1" i="0">
                <a:solidFill>
                  <a:srgbClr val="22D3EE"/>
                </a:solidFill>
                <a:latin typeface="Calibri"/>
              </a:rPr>
              <a:t>SLIDE 4</a:t>
            </a:r>
          </a:p>
          <a:p>
            <a:pPr algn="l">
              <a:spcAft>
                <a:spcPts val="200"/>
              </a:spcAft>
            </a:pPr>
            <a:r>
              <a:rPr sz="2800" b="1" i="0">
                <a:solidFill>
                  <a:srgbClr val="FFFFFF"/>
                </a:solidFill>
                <a:latin typeface="Calibri"/>
              </a:rPr>
              <a:t>PRISM Usage</a:t>
            </a:r>
          </a:p>
          <a:p>
            <a:pPr algn="l">
              <a:spcAft>
                <a:spcPts val="0"/>
              </a:spcAft>
            </a:pPr>
            <a:r>
              <a:rPr sz="1200" b="0" i="0">
                <a:solidFill>
                  <a:srgbClr val="94A3B8"/>
                </a:solidFill>
                <a:latin typeface="Calibri"/>
              </a:rPr>
              <a:t>How PRISM is used to monitor, evaluate, detect failures, and improve the AI system</a:t>
            </a:r>
          </a:p>
        </p:txBody>
      </p:sp>
      <p:sp>
        <p:nvSpPr>
          <p:cNvPr id="3" name="Rectangle 2"/>
          <p:cNvSpPr/>
          <p:nvPr/>
        </p:nvSpPr>
        <p:spPr>
          <a:xfrm>
            <a:off x="530352" y="1298448"/>
            <a:ext cx="1463040"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00200"/>
            <a:ext cx="6583680" cy="4480560"/>
          </a:xfrm>
          <a:prstGeom prst="rect">
            <a:avLst/>
          </a:prstGeom>
          <a:noFill/>
        </p:spPr>
        <p:txBody>
          <a:bodyPr wrap="square" anchor="t">
            <a:spAutoFit/>
          </a:bodyPr>
          <a:lstStyle/>
          <a:p>
            <a:pPr>
              <a:spcAft>
                <a:spcPts val="800"/>
              </a:spcAft>
            </a:pPr>
            <a:r>
              <a:rPr sz="1300" b="1" dirty="0">
                <a:solidFill>
                  <a:srgbClr val="22D3EE"/>
                </a:solidFill>
                <a:latin typeface="Calibri"/>
              </a:rPr>
              <a:t>•  </a:t>
            </a:r>
            <a:r>
              <a:rPr sz="1300" b="1" dirty="0">
                <a:solidFill>
                  <a:srgbClr val="E6EEF8"/>
                </a:solidFill>
                <a:latin typeface="Calibri"/>
              </a:rPr>
              <a:t>Connect: </a:t>
            </a:r>
            <a:r>
              <a:rPr sz="1300" dirty="0">
                <a:solidFill>
                  <a:srgbClr val="E6EEF8"/>
                </a:solidFill>
                <a:latin typeface="Calibri"/>
              </a:rPr>
              <a:t>every AI explanation run is streamed to PRISM via the PRISM SDK / </a:t>
            </a:r>
            <a:r>
              <a:rPr sz="1300" dirty="0" err="1">
                <a:solidFill>
                  <a:srgbClr val="E6EEF8"/>
                </a:solidFill>
                <a:latin typeface="Calibri"/>
              </a:rPr>
              <a:t>OpenTelemetry</a:t>
            </a:r>
            <a:r>
              <a:rPr sz="1300" dirty="0">
                <a:solidFill>
                  <a:srgbClr val="E6EEF8"/>
                </a:solidFill>
                <a:latin typeface="Calibri"/>
              </a:rPr>
              <a:t> — user goal, signal snapshot, prompt, output and final score captured as one session</a:t>
            </a:r>
          </a:p>
          <a:p>
            <a:pPr>
              <a:spcAft>
                <a:spcPts val="800"/>
              </a:spcAft>
            </a:pPr>
            <a:r>
              <a:rPr sz="1300" b="1" dirty="0">
                <a:solidFill>
                  <a:srgbClr val="22D3EE"/>
                </a:solidFill>
                <a:latin typeface="Calibri"/>
              </a:rPr>
              <a:t>•  </a:t>
            </a:r>
            <a:r>
              <a:rPr sz="1300" b="1" dirty="0">
                <a:solidFill>
                  <a:srgbClr val="E6EEF8"/>
                </a:solidFill>
                <a:latin typeface="Calibri"/>
              </a:rPr>
              <a:t>Monitor &amp; Evaluate 100% of runs: </a:t>
            </a:r>
            <a:r>
              <a:rPr sz="1300" dirty="0">
                <a:solidFill>
                  <a:srgbClr val="E6EEF8"/>
                </a:solidFill>
                <a:latin typeface="Calibri"/>
              </a:rPr>
              <a:t>custom evaluators — </a:t>
            </a:r>
            <a:r>
              <a:rPr sz="1300" dirty="0" err="1">
                <a:solidFill>
                  <a:srgbClr val="E6EEF8"/>
                </a:solidFill>
                <a:latin typeface="Calibri"/>
              </a:rPr>
              <a:t>Groundedness</a:t>
            </a:r>
            <a:r>
              <a:rPr sz="1300" dirty="0">
                <a:solidFill>
                  <a:srgbClr val="E6EEF8"/>
                </a:solidFill>
                <a:latin typeface="Calibri"/>
              </a:rPr>
              <a:t> (every number must match the signal payload) · Consistency (narrative zone = computed zone) · Advice-safety guardrail (zero buy/sell language) · Completeness (cites top drivers)</a:t>
            </a:r>
          </a:p>
          <a:p>
            <a:pPr>
              <a:spcAft>
                <a:spcPts val="800"/>
              </a:spcAft>
            </a:pPr>
            <a:r>
              <a:rPr sz="1300" b="1" dirty="0">
                <a:solidFill>
                  <a:srgbClr val="22D3EE"/>
                </a:solidFill>
                <a:latin typeface="Calibri"/>
              </a:rPr>
              <a:t>•  </a:t>
            </a:r>
            <a:r>
              <a:rPr sz="1300" b="1" dirty="0">
                <a:solidFill>
                  <a:srgbClr val="E6EEF8"/>
                </a:solidFill>
                <a:latin typeface="Calibri"/>
              </a:rPr>
              <a:t>Detect failures: </a:t>
            </a:r>
            <a:r>
              <a:rPr sz="1300" dirty="0">
                <a:solidFill>
                  <a:srgbClr val="E6EEF8"/>
                </a:solidFill>
                <a:latin typeface="Calibri"/>
              </a:rPr>
              <a:t>PRISM clusters recurring failures (contradicts a VIX spike, hallucinated metric, stale cache), classifies root causes, flags low-confidence runs for human review</a:t>
            </a:r>
          </a:p>
          <a:p>
            <a:pPr>
              <a:spcAft>
                <a:spcPts val="800"/>
              </a:spcAft>
            </a:pPr>
            <a:r>
              <a:rPr sz="1300" b="1" dirty="0">
                <a:solidFill>
                  <a:srgbClr val="22D3EE"/>
                </a:solidFill>
                <a:latin typeface="Calibri"/>
              </a:rPr>
              <a:t>•  </a:t>
            </a:r>
            <a:r>
              <a:rPr sz="1300" b="1" dirty="0">
                <a:solidFill>
                  <a:srgbClr val="E6EEF8"/>
                </a:solidFill>
                <a:latin typeface="Calibri"/>
              </a:rPr>
              <a:t>Improve: </a:t>
            </a:r>
            <a:r>
              <a:rPr sz="1300" dirty="0">
                <a:solidFill>
                  <a:srgbClr val="E6EEF8"/>
                </a:solidFill>
                <a:latin typeface="Calibri"/>
              </a:rPr>
              <a:t>failures → backlog → fix (prompt diff / lexicon update) → human approval gate → re-tested with the same scenarios → validated on the six-dimension scorecard</a:t>
            </a:r>
          </a:p>
          <a:p>
            <a:pPr>
              <a:spcAft>
                <a:spcPts val="800"/>
              </a:spcAft>
            </a:pPr>
            <a:r>
              <a:rPr sz="1300" b="1" dirty="0">
                <a:solidFill>
                  <a:srgbClr val="22D3EE"/>
                </a:solidFill>
                <a:latin typeface="Calibri"/>
              </a:rPr>
              <a:t>•  </a:t>
            </a:r>
            <a:r>
              <a:rPr sz="1300" b="1" dirty="0">
                <a:solidFill>
                  <a:srgbClr val="E6EEF8"/>
                </a:solidFill>
                <a:latin typeface="Calibri"/>
              </a:rPr>
              <a:t>Pre-launch: </a:t>
            </a:r>
            <a:r>
              <a:rPr sz="1300" dirty="0">
                <a:solidFill>
                  <a:srgbClr val="E6EEF8"/>
                </a:solidFill>
                <a:latin typeface="Calibri"/>
              </a:rPr>
              <a:t>PRISM Synthetic Scenarios stress-test crash days, contradictory signals and missing data</a:t>
            </a:r>
          </a:p>
        </p:txBody>
      </p:sp>
      <p:sp>
        <p:nvSpPr>
          <p:cNvPr id="5" name="Rounded Rectangle 4"/>
          <p:cNvSpPr/>
          <p:nvPr/>
        </p:nvSpPr>
        <p:spPr>
          <a:xfrm>
            <a:off x="7452360" y="1645920"/>
            <a:ext cx="4206240" cy="4160520"/>
          </a:xfrm>
          <a:prstGeom prst="roundRect">
            <a:avLst>
              <a:gd name="adj" fmla="val 8000"/>
            </a:avLst>
          </a:prstGeom>
          <a:solidFill>
            <a:srgbClr val="131F35"/>
          </a:solidFill>
          <a:ln w="12700">
            <a:solidFill>
              <a:srgbClr val="1A2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680960" y="1783080"/>
            <a:ext cx="3749040" cy="443711"/>
          </a:xfrm>
          <a:prstGeom prst="rect">
            <a:avLst/>
          </a:prstGeom>
          <a:noFill/>
        </p:spPr>
        <p:txBody>
          <a:bodyPr wrap="square" anchor="t">
            <a:spAutoFit/>
          </a:bodyPr>
          <a:lstStyle/>
          <a:p>
            <a:pPr algn="l">
              <a:spcAft>
                <a:spcPts val="100"/>
              </a:spcAft>
            </a:pPr>
            <a:r>
              <a:rPr lang="en-US" sz="1300" b="1" i="0" dirty="0">
                <a:solidFill>
                  <a:srgbClr val="FFFFFF"/>
                </a:solidFill>
                <a:latin typeface="Calibri"/>
              </a:rPr>
              <a:t>PRISM Reliability Scorecard</a:t>
            </a:r>
          </a:p>
          <a:p>
            <a:pPr algn="l">
              <a:spcAft>
                <a:spcPts val="600"/>
              </a:spcAft>
            </a:pPr>
            <a:r>
              <a:rPr lang="en-US" sz="900" b="0" i="1" dirty="0">
                <a:solidFill>
                  <a:srgbClr val="94A3B8"/>
                </a:solidFill>
                <a:latin typeface="Calibri"/>
              </a:rPr>
              <a:t>illustrative monthly report</a:t>
            </a:r>
          </a:p>
        </p:txBody>
      </p:sp>
      <p:sp>
        <p:nvSpPr>
          <p:cNvPr id="7" name="TextBox 6"/>
          <p:cNvSpPr txBox="1"/>
          <p:nvPr/>
        </p:nvSpPr>
        <p:spPr>
          <a:xfrm>
            <a:off x="7680960" y="2423160"/>
            <a:ext cx="1554480" cy="914400"/>
          </a:xfrm>
          <a:prstGeom prst="rect">
            <a:avLst/>
          </a:prstGeom>
          <a:noFill/>
        </p:spPr>
        <p:txBody>
          <a:bodyPr wrap="square" anchor="t">
            <a:spAutoFit/>
          </a:bodyPr>
          <a:lstStyle/>
          <a:p>
            <a:pPr algn="l">
              <a:spcAft>
                <a:spcPts val="0"/>
              </a:spcAft>
            </a:pPr>
            <a:r>
              <a:rPr sz="3400" b="1" i="0" dirty="0">
                <a:solidFill>
                  <a:srgbClr val="34D399"/>
                </a:solidFill>
                <a:latin typeface="Calibri"/>
              </a:rPr>
              <a:t>78</a:t>
            </a:r>
          </a:p>
          <a:p>
            <a:pPr algn="l">
              <a:spcAft>
                <a:spcPts val="600"/>
              </a:spcAft>
            </a:pPr>
            <a:r>
              <a:rPr sz="1000" b="0" i="0" dirty="0">
                <a:solidFill>
                  <a:srgbClr val="94A3B8"/>
                </a:solidFill>
                <a:latin typeface="Calibri"/>
              </a:rPr>
              <a:t>/100  (+6 MoM)</a:t>
            </a:r>
          </a:p>
        </p:txBody>
      </p:sp>
      <p:sp>
        <p:nvSpPr>
          <p:cNvPr id="8" name="TextBox 7"/>
          <p:cNvSpPr txBox="1"/>
          <p:nvPr/>
        </p:nvSpPr>
        <p:spPr>
          <a:xfrm>
            <a:off x="7680960" y="2496312"/>
            <a:ext cx="1645920" cy="365760"/>
          </a:xfrm>
          <a:prstGeom prst="rect">
            <a:avLst/>
          </a:prstGeom>
          <a:noFill/>
        </p:spPr>
        <p:txBody>
          <a:bodyPr wrap="square" anchor="t">
            <a:spAutoFit/>
          </a:bodyPr>
          <a:lstStyle/>
          <a:p>
            <a:pPr algn="l">
              <a:spcAft>
                <a:spcPts val="0"/>
              </a:spcAft>
            </a:pPr>
            <a:r>
              <a:rPr sz="850" b="0" i="0">
                <a:solidFill>
                  <a:srgbClr val="E6EEF8"/>
                </a:solidFill>
                <a:latin typeface="Calibri"/>
              </a:rPr>
              <a:t>Task success &amp; resolution</a:t>
            </a:r>
          </a:p>
          <a:p>
            <a:pPr algn="l">
              <a:spcAft>
                <a:spcPts val="0"/>
              </a:spcAft>
            </a:pPr>
            <a:r>
              <a:rPr sz="750" b="0" i="0">
                <a:solidFill>
                  <a:srgbClr val="94A3B8"/>
                </a:solidFill>
                <a:latin typeface="Calibri"/>
              </a:rPr>
              <a:t>weight 25%</a:t>
            </a:r>
          </a:p>
        </p:txBody>
      </p:sp>
      <p:sp>
        <p:nvSpPr>
          <p:cNvPr id="9" name="Rectangle 8"/>
          <p:cNvSpPr/>
          <p:nvPr/>
        </p:nvSpPr>
        <p:spPr>
          <a:xfrm>
            <a:off x="9326879" y="2587752"/>
            <a:ext cx="1965960" cy="128016"/>
          </a:xfrm>
          <a:prstGeom prst="rect">
            <a:avLst/>
          </a:prstGeom>
          <a:solidFill>
            <a:srgbClr val="1A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326879" y="2587752"/>
            <a:ext cx="1612087" cy="128016"/>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TextBox 10"/>
          <p:cNvSpPr txBox="1"/>
          <p:nvPr/>
        </p:nvSpPr>
        <p:spPr>
          <a:xfrm>
            <a:off x="11292839" y="2487168"/>
            <a:ext cx="365760" cy="274320"/>
          </a:xfrm>
          <a:prstGeom prst="rect">
            <a:avLst/>
          </a:prstGeom>
          <a:noFill/>
        </p:spPr>
        <p:txBody>
          <a:bodyPr wrap="square" anchor="t">
            <a:spAutoFit/>
          </a:bodyPr>
          <a:lstStyle/>
          <a:p>
            <a:pPr algn="l">
              <a:spcAft>
                <a:spcPts val="600"/>
              </a:spcAft>
            </a:pPr>
            <a:r>
              <a:rPr sz="900" b="1" i="0">
                <a:solidFill>
                  <a:srgbClr val="34D399"/>
                </a:solidFill>
                <a:latin typeface="Calibri"/>
              </a:rPr>
              <a:t>82</a:t>
            </a:r>
          </a:p>
        </p:txBody>
      </p:sp>
      <p:sp>
        <p:nvSpPr>
          <p:cNvPr id="12" name="TextBox 11"/>
          <p:cNvSpPr txBox="1"/>
          <p:nvPr/>
        </p:nvSpPr>
        <p:spPr>
          <a:xfrm>
            <a:off x="7680960" y="2980944"/>
            <a:ext cx="1645920" cy="365760"/>
          </a:xfrm>
          <a:prstGeom prst="rect">
            <a:avLst/>
          </a:prstGeom>
          <a:noFill/>
        </p:spPr>
        <p:txBody>
          <a:bodyPr wrap="square" anchor="t">
            <a:spAutoFit/>
          </a:bodyPr>
          <a:lstStyle/>
          <a:p>
            <a:pPr algn="l">
              <a:spcAft>
                <a:spcPts val="0"/>
              </a:spcAft>
            </a:pPr>
            <a:r>
              <a:rPr sz="850" b="0" i="0" dirty="0">
                <a:solidFill>
                  <a:srgbClr val="E6EEF8"/>
                </a:solidFill>
                <a:latin typeface="Calibri"/>
              </a:rPr>
              <a:t>Correctness &amp; </a:t>
            </a:r>
            <a:r>
              <a:rPr sz="850" b="0" i="0" dirty="0" err="1">
                <a:solidFill>
                  <a:srgbClr val="E6EEF8"/>
                </a:solidFill>
                <a:latin typeface="Calibri"/>
              </a:rPr>
              <a:t>groundedness</a:t>
            </a:r>
            <a:endParaRPr sz="850" b="0" i="0" dirty="0">
              <a:solidFill>
                <a:srgbClr val="E6EEF8"/>
              </a:solidFill>
              <a:latin typeface="Calibri"/>
            </a:endParaRPr>
          </a:p>
          <a:p>
            <a:pPr algn="l">
              <a:spcAft>
                <a:spcPts val="0"/>
              </a:spcAft>
            </a:pPr>
            <a:r>
              <a:rPr sz="750" b="0" i="0" dirty="0">
                <a:solidFill>
                  <a:srgbClr val="94A3B8"/>
                </a:solidFill>
                <a:latin typeface="Calibri"/>
              </a:rPr>
              <a:t>weight 20%</a:t>
            </a:r>
          </a:p>
        </p:txBody>
      </p:sp>
      <p:sp>
        <p:nvSpPr>
          <p:cNvPr id="13" name="Rectangle 12"/>
          <p:cNvSpPr/>
          <p:nvPr/>
        </p:nvSpPr>
        <p:spPr>
          <a:xfrm>
            <a:off x="9326879" y="3072384"/>
            <a:ext cx="1965960" cy="128016"/>
          </a:xfrm>
          <a:prstGeom prst="rect">
            <a:avLst/>
          </a:prstGeom>
          <a:solidFill>
            <a:srgbClr val="1A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9326879" y="3072384"/>
            <a:ext cx="1553108" cy="128016"/>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292839" y="2971800"/>
            <a:ext cx="365760" cy="274320"/>
          </a:xfrm>
          <a:prstGeom prst="rect">
            <a:avLst/>
          </a:prstGeom>
          <a:noFill/>
        </p:spPr>
        <p:txBody>
          <a:bodyPr wrap="square" anchor="t">
            <a:spAutoFit/>
          </a:bodyPr>
          <a:lstStyle/>
          <a:p>
            <a:pPr algn="l">
              <a:spcAft>
                <a:spcPts val="600"/>
              </a:spcAft>
            </a:pPr>
            <a:r>
              <a:rPr sz="900" b="1" i="0">
                <a:solidFill>
                  <a:srgbClr val="34D399"/>
                </a:solidFill>
                <a:latin typeface="Calibri"/>
              </a:rPr>
              <a:t>79</a:t>
            </a:r>
          </a:p>
        </p:txBody>
      </p:sp>
      <p:sp>
        <p:nvSpPr>
          <p:cNvPr id="16" name="TextBox 15"/>
          <p:cNvSpPr txBox="1"/>
          <p:nvPr/>
        </p:nvSpPr>
        <p:spPr>
          <a:xfrm>
            <a:off x="7680960" y="3465576"/>
            <a:ext cx="1645920" cy="365760"/>
          </a:xfrm>
          <a:prstGeom prst="rect">
            <a:avLst/>
          </a:prstGeom>
          <a:noFill/>
        </p:spPr>
        <p:txBody>
          <a:bodyPr wrap="square" anchor="t">
            <a:spAutoFit/>
          </a:bodyPr>
          <a:lstStyle/>
          <a:p>
            <a:pPr algn="l">
              <a:spcAft>
                <a:spcPts val="0"/>
              </a:spcAft>
            </a:pPr>
            <a:r>
              <a:rPr sz="850" b="0" i="0" dirty="0">
                <a:solidFill>
                  <a:srgbClr val="E6EEF8"/>
                </a:solidFill>
                <a:latin typeface="Calibri"/>
              </a:rPr>
              <a:t>Guardrails &amp; policy adherence</a:t>
            </a:r>
          </a:p>
          <a:p>
            <a:pPr algn="l">
              <a:spcAft>
                <a:spcPts val="0"/>
              </a:spcAft>
            </a:pPr>
            <a:r>
              <a:rPr sz="750" b="0" i="0" dirty="0">
                <a:solidFill>
                  <a:srgbClr val="94A3B8"/>
                </a:solidFill>
                <a:latin typeface="Calibri"/>
              </a:rPr>
              <a:t>weight 20%</a:t>
            </a:r>
          </a:p>
        </p:txBody>
      </p:sp>
      <p:sp>
        <p:nvSpPr>
          <p:cNvPr id="17" name="Rectangle 16"/>
          <p:cNvSpPr/>
          <p:nvPr/>
        </p:nvSpPr>
        <p:spPr>
          <a:xfrm>
            <a:off x="9326879" y="3557016"/>
            <a:ext cx="1965960" cy="128016"/>
          </a:xfrm>
          <a:prstGeom prst="rect">
            <a:avLst/>
          </a:prstGeom>
          <a:solidFill>
            <a:srgbClr val="1A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326879" y="3557016"/>
            <a:ext cx="1789023" cy="128016"/>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1292839" y="3456432"/>
            <a:ext cx="365760" cy="274320"/>
          </a:xfrm>
          <a:prstGeom prst="rect">
            <a:avLst/>
          </a:prstGeom>
          <a:noFill/>
        </p:spPr>
        <p:txBody>
          <a:bodyPr wrap="square" anchor="t">
            <a:spAutoFit/>
          </a:bodyPr>
          <a:lstStyle/>
          <a:p>
            <a:pPr algn="l">
              <a:spcAft>
                <a:spcPts val="600"/>
              </a:spcAft>
            </a:pPr>
            <a:r>
              <a:rPr sz="900" b="1" i="0">
                <a:solidFill>
                  <a:srgbClr val="34D399"/>
                </a:solidFill>
                <a:latin typeface="Calibri"/>
              </a:rPr>
              <a:t>91</a:t>
            </a:r>
          </a:p>
        </p:txBody>
      </p:sp>
      <p:sp>
        <p:nvSpPr>
          <p:cNvPr id="20" name="TextBox 19"/>
          <p:cNvSpPr txBox="1"/>
          <p:nvPr/>
        </p:nvSpPr>
        <p:spPr>
          <a:xfrm>
            <a:off x="7680960" y="3950208"/>
            <a:ext cx="1645920" cy="365760"/>
          </a:xfrm>
          <a:prstGeom prst="rect">
            <a:avLst/>
          </a:prstGeom>
          <a:noFill/>
        </p:spPr>
        <p:txBody>
          <a:bodyPr wrap="square" anchor="t">
            <a:spAutoFit/>
          </a:bodyPr>
          <a:lstStyle/>
          <a:p>
            <a:pPr algn="l">
              <a:spcAft>
                <a:spcPts val="0"/>
              </a:spcAft>
            </a:pPr>
            <a:r>
              <a:rPr sz="850" b="0" i="0">
                <a:solidFill>
                  <a:srgbClr val="E6EEF8"/>
                </a:solidFill>
                <a:latin typeface="Calibri"/>
              </a:rPr>
              <a:t>User friction &amp; satisfaction</a:t>
            </a:r>
          </a:p>
          <a:p>
            <a:pPr algn="l">
              <a:spcAft>
                <a:spcPts val="0"/>
              </a:spcAft>
            </a:pPr>
            <a:r>
              <a:rPr sz="750" b="0" i="0">
                <a:solidFill>
                  <a:srgbClr val="94A3B8"/>
                </a:solidFill>
                <a:latin typeface="Calibri"/>
              </a:rPr>
              <a:t>weight 15%</a:t>
            </a:r>
          </a:p>
        </p:txBody>
      </p:sp>
      <p:sp>
        <p:nvSpPr>
          <p:cNvPr id="21" name="Rectangle 20"/>
          <p:cNvSpPr/>
          <p:nvPr/>
        </p:nvSpPr>
        <p:spPr>
          <a:xfrm>
            <a:off x="9326879" y="4041648"/>
            <a:ext cx="1965960" cy="128016"/>
          </a:xfrm>
          <a:prstGeom prst="rect">
            <a:avLst/>
          </a:prstGeom>
          <a:solidFill>
            <a:srgbClr val="1A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326879" y="4041648"/>
            <a:ext cx="1454810" cy="128016"/>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292839" y="3941064"/>
            <a:ext cx="365760" cy="274320"/>
          </a:xfrm>
          <a:prstGeom prst="rect">
            <a:avLst/>
          </a:prstGeom>
          <a:noFill/>
        </p:spPr>
        <p:txBody>
          <a:bodyPr wrap="square" anchor="t">
            <a:spAutoFit/>
          </a:bodyPr>
          <a:lstStyle/>
          <a:p>
            <a:pPr algn="l">
              <a:spcAft>
                <a:spcPts val="600"/>
              </a:spcAft>
            </a:pPr>
            <a:r>
              <a:rPr sz="900" b="1" i="0">
                <a:solidFill>
                  <a:srgbClr val="FBBF24"/>
                </a:solidFill>
                <a:latin typeface="Calibri"/>
              </a:rPr>
              <a:t>74</a:t>
            </a:r>
          </a:p>
        </p:txBody>
      </p:sp>
      <p:sp>
        <p:nvSpPr>
          <p:cNvPr id="24" name="TextBox 23"/>
          <p:cNvSpPr txBox="1"/>
          <p:nvPr/>
        </p:nvSpPr>
        <p:spPr>
          <a:xfrm>
            <a:off x="7680960" y="4434840"/>
            <a:ext cx="1645920" cy="365760"/>
          </a:xfrm>
          <a:prstGeom prst="rect">
            <a:avLst/>
          </a:prstGeom>
          <a:noFill/>
        </p:spPr>
        <p:txBody>
          <a:bodyPr wrap="square" anchor="t">
            <a:spAutoFit/>
          </a:bodyPr>
          <a:lstStyle/>
          <a:p>
            <a:pPr algn="l">
              <a:spcAft>
                <a:spcPts val="0"/>
              </a:spcAft>
            </a:pPr>
            <a:r>
              <a:rPr sz="850" b="0" i="0">
                <a:solidFill>
                  <a:srgbClr val="E6EEF8"/>
                </a:solidFill>
                <a:latin typeface="Calibri"/>
              </a:rPr>
              <a:t>Stability &amp; error-free execution</a:t>
            </a:r>
          </a:p>
          <a:p>
            <a:pPr algn="l">
              <a:spcAft>
                <a:spcPts val="0"/>
              </a:spcAft>
            </a:pPr>
            <a:r>
              <a:rPr sz="750" b="0" i="0">
                <a:solidFill>
                  <a:srgbClr val="94A3B8"/>
                </a:solidFill>
                <a:latin typeface="Calibri"/>
              </a:rPr>
              <a:t>weight 10%</a:t>
            </a:r>
          </a:p>
        </p:txBody>
      </p:sp>
      <p:sp>
        <p:nvSpPr>
          <p:cNvPr id="25" name="Rectangle 24"/>
          <p:cNvSpPr/>
          <p:nvPr/>
        </p:nvSpPr>
        <p:spPr>
          <a:xfrm>
            <a:off x="9326879" y="4526280"/>
            <a:ext cx="1965960" cy="128016"/>
          </a:xfrm>
          <a:prstGeom prst="rect">
            <a:avLst/>
          </a:prstGeom>
          <a:solidFill>
            <a:srgbClr val="1A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326879" y="4526280"/>
            <a:ext cx="1730044" cy="128016"/>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292839" y="4425696"/>
            <a:ext cx="365760" cy="274320"/>
          </a:xfrm>
          <a:prstGeom prst="rect">
            <a:avLst/>
          </a:prstGeom>
          <a:noFill/>
        </p:spPr>
        <p:txBody>
          <a:bodyPr wrap="square" anchor="t">
            <a:spAutoFit/>
          </a:bodyPr>
          <a:lstStyle/>
          <a:p>
            <a:pPr algn="l">
              <a:spcAft>
                <a:spcPts val="600"/>
              </a:spcAft>
            </a:pPr>
            <a:r>
              <a:rPr sz="900" b="1" i="0">
                <a:solidFill>
                  <a:srgbClr val="34D399"/>
                </a:solidFill>
                <a:latin typeface="Calibri"/>
              </a:rPr>
              <a:t>88</a:t>
            </a:r>
          </a:p>
        </p:txBody>
      </p:sp>
      <p:sp>
        <p:nvSpPr>
          <p:cNvPr id="28" name="TextBox 27"/>
          <p:cNvSpPr txBox="1"/>
          <p:nvPr/>
        </p:nvSpPr>
        <p:spPr>
          <a:xfrm>
            <a:off x="7680960" y="4919472"/>
            <a:ext cx="1645920" cy="365760"/>
          </a:xfrm>
          <a:prstGeom prst="rect">
            <a:avLst/>
          </a:prstGeom>
          <a:noFill/>
        </p:spPr>
        <p:txBody>
          <a:bodyPr wrap="square" anchor="t">
            <a:spAutoFit/>
          </a:bodyPr>
          <a:lstStyle/>
          <a:p>
            <a:pPr algn="l">
              <a:spcAft>
                <a:spcPts val="0"/>
              </a:spcAft>
            </a:pPr>
            <a:r>
              <a:rPr sz="850" b="0" i="0">
                <a:solidFill>
                  <a:srgbClr val="E6EEF8"/>
                </a:solidFill>
                <a:latin typeface="Calibri"/>
              </a:rPr>
              <a:t>Improvement velocity</a:t>
            </a:r>
          </a:p>
          <a:p>
            <a:pPr algn="l">
              <a:spcAft>
                <a:spcPts val="0"/>
              </a:spcAft>
            </a:pPr>
            <a:r>
              <a:rPr sz="750" b="0" i="0">
                <a:solidFill>
                  <a:srgbClr val="94A3B8"/>
                </a:solidFill>
                <a:latin typeface="Calibri"/>
              </a:rPr>
              <a:t>weight 10%</a:t>
            </a:r>
          </a:p>
        </p:txBody>
      </p:sp>
      <p:sp>
        <p:nvSpPr>
          <p:cNvPr id="29" name="Rectangle 28"/>
          <p:cNvSpPr/>
          <p:nvPr/>
        </p:nvSpPr>
        <p:spPr>
          <a:xfrm>
            <a:off x="9326879" y="5010912"/>
            <a:ext cx="1965960" cy="128016"/>
          </a:xfrm>
          <a:prstGeom prst="rect">
            <a:avLst/>
          </a:prstGeom>
          <a:solidFill>
            <a:srgbClr val="1A2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326879" y="5010912"/>
            <a:ext cx="1199235" cy="128016"/>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292839" y="4910328"/>
            <a:ext cx="365760" cy="274320"/>
          </a:xfrm>
          <a:prstGeom prst="rect">
            <a:avLst/>
          </a:prstGeom>
          <a:noFill/>
        </p:spPr>
        <p:txBody>
          <a:bodyPr wrap="square" anchor="t">
            <a:spAutoFit/>
          </a:bodyPr>
          <a:lstStyle/>
          <a:p>
            <a:pPr algn="l">
              <a:spcAft>
                <a:spcPts val="600"/>
              </a:spcAft>
            </a:pPr>
            <a:r>
              <a:rPr sz="900" b="1" i="0">
                <a:solidFill>
                  <a:srgbClr val="FBBF24"/>
                </a:solidFill>
                <a:latin typeface="Calibri"/>
              </a:rPr>
              <a:t>61</a:t>
            </a:r>
          </a:p>
        </p:txBody>
      </p:sp>
      <p:sp>
        <p:nvSpPr>
          <p:cNvPr id="32" name="TextBox 31"/>
          <p:cNvSpPr txBox="1"/>
          <p:nvPr/>
        </p:nvSpPr>
        <p:spPr>
          <a:xfrm>
            <a:off x="502920" y="6446520"/>
            <a:ext cx="8229600" cy="320040"/>
          </a:xfrm>
          <a:prstGeom prst="rect">
            <a:avLst/>
          </a:prstGeom>
          <a:noFill/>
        </p:spPr>
        <p:txBody>
          <a:bodyPr wrap="square" anchor="t">
            <a:spAutoFit/>
          </a:bodyPr>
          <a:lstStyle/>
          <a:p>
            <a:pPr algn="l">
              <a:spcAft>
                <a:spcPts val="600"/>
              </a:spcAft>
            </a:pPr>
            <a:r>
              <a:rPr sz="900" b="0" i="0">
                <a:solidFill>
                  <a:srgbClr val="94A3B8"/>
                </a:solidFill>
                <a:latin typeface="Calibri"/>
              </a:rPr>
              <a:t>MarketPulse · AI for Finance · Decision support — not investment advice</a:t>
            </a:r>
          </a:p>
        </p:txBody>
      </p:sp>
      <p:sp>
        <p:nvSpPr>
          <p:cNvPr id="33" name="TextBox 32"/>
          <p:cNvSpPr txBox="1"/>
          <p:nvPr/>
        </p:nvSpPr>
        <p:spPr>
          <a:xfrm>
            <a:off x="11247120" y="6446520"/>
            <a:ext cx="548640" cy="320040"/>
          </a:xfrm>
          <a:prstGeom prst="rect">
            <a:avLst/>
          </a:prstGeom>
          <a:noFill/>
        </p:spPr>
        <p:txBody>
          <a:bodyPr wrap="square" anchor="t">
            <a:spAutoFit/>
          </a:bodyPr>
          <a:lstStyle/>
          <a:p>
            <a:pPr algn="r">
              <a:spcAft>
                <a:spcPts val="600"/>
              </a:spcAft>
            </a:pPr>
            <a:r>
              <a:rPr sz="1000" b="0" i="0">
                <a:solidFill>
                  <a:srgbClr val="94A3B8"/>
                </a:solidFill>
                <a:latin typeface="Calibri"/>
              </a:rPr>
              <a:t>4</a:t>
            </a:r>
          </a:p>
        </p:txBody>
      </p:sp>
      <p:pic>
        <p:nvPicPr>
          <p:cNvPr id="34" name="Picture 33">
            <a:extLst>
              <a:ext uri="{FF2B5EF4-FFF2-40B4-BE49-F238E27FC236}">
                <a16:creationId xmlns:a16="http://schemas.microsoft.com/office/drawing/2014/main" id="{BBF21C40-E640-8169-0241-D7FED3A108B1}"/>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9601200" cy="914400"/>
          </a:xfrm>
          <a:prstGeom prst="rect">
            <a:avLst/>
          </a:prstGeom>
          <a:noFill/>
        </p:spPr>
        <p:txBody>
          <a:bodyPr wrap="square" anchor="t">
            <a:spAutoFit/>
          </a:bodyPr>
          <a:lstStyle/>
          <a:p>
            <a:pPr algn="l">
              <a:spcAft>
                <a:spcPts val="200"/>
              </a:spcAft>
            </a:pPr>
            <a:r>
              <a:rPr sz="1100" b="1" i="0">
                <a:solidFill>
                  <a:srgbClr val="22D3EE"/>
                </a:solidFill>
                <a:latin typeface="Calibri"/>
              </a:rPr>
              <a:t>SLIDE 5</a:t>
            </a:r>
          </a:p>
          <a:p>
            <a:pPr algn="l">
              <a:spcAft>
                <a:spcPts val="200"/>
              </a:spcAft>
            </a:pPr>
            <a:r>
              <a:rPr sz="2800" b="1" i="0">
                <a:solidFill>
                  <a:srgbClr val="FFFFFF"/>
                </a:solidFill>
                <a:latin typeface="Calibri"/>
              </a:rPr>
              <a:t>System Workflow</a:t>
            </a:r>
          </a:p>
          <a:p>
            <a:pPr algn="l">
              <a:spcAft>
                <a:spcPts val="0"/>
              </a:spcAft>
            </a:pPr>
            <a:r>
              <a:rPr sz="1200" b="0" i="0">
                <a:solidFill>
                  <a:srgbClr val="94A3B8"/>
                </a:solidFill>
                <a:latin typeface="Calibri"/>
              </a:rPr>
              <a:t>Input → AI/RAG/Agent System → PRISM Monitoring &amp; Evaluation → Failure Detection → Improvement</a:t>
            </a:r>
          </a:p>
        </p:txBody>
      </p:sp>
      <p:sp>
        <p:nvSpPr>
          <p:cNvPr id="3" name="Rectangle 2"/>
          <p:cNvSpPr/>
          <p:nvPr/>
        </p:nvSpPr>
        <p:spPr>
          <a:xfrm>
            <a:off x="530352" y="1298448"/>
            <a:ext cx="1463040"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84251" y="2148840"/>
            <a:ext cx="2057400" cy="1600200"/>
          </a:xfrm>
          <a:prstGeom prst="roundRect">
            <a:avLst>
              <a:gd name="adj" fmla="val 8000"/>
            </a:avLst>
          </a:prstGeom>
          <a:solidFill>
            <a:srgbClr val="131F35"/>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lIns="73152" rIns="73152" rtlCol="0" anchor="ctr"/>
          <a:lstStyle/>
          <a:p>
            <a:pPr algn="ctr"/>
            <a:r>
              <a:rPr sz="1350" b="1" dirty="0">
                <a:solidFill>
                  <a:srgbClr val="22D3EE"/>
                </a:solidFill>
                <a:latin typeface="Calibri"/>
              </a:rPr>
              <a:t>Live Inputs</a:t>
            </a:r>
          </a:p>
          <a:p>
            <a:pPr algn="ctr"/>
            <a:r>
              <a:rPr sz="950" dirty="0">
                <a:solidFill>
                  <a:srgbClr val="E6EEF8"/>
                </a:solidFill>
                <a:latin typeface="Calibri"/>
              </a:rPr>
              <a:t>indices · India VIX · volume</a:t>
            </a:r>
          </a:p>
          <a:p>
            <a:pPr algn="ctr"/>
            <a:r>
              <a:rPr sz="950" dirty="0">
                <a:solidFill>
                  <a:srgbClr val="E6EEF8"/>
                </a:solidFill>
                <a:latin typeface="Calibri"/>
              </a:rPr>
              <a:t>global cues · news</a:t>
            </a:r>
            <a:r>
              <a:rPr lang="en-US" sz="950" dirty="0">
                <a:solidFill>
                  <a:srgbClr val="E6EEF8"/>
                </a:solidFill>
                <a:latin typeface="Calibri"/>
              </a:rPr>
              <a:t> - NSE/BSE-</a:t>
            </a:r>
            <a:endParaRPr sz="950" dirty="0">
              <a:solidFill>
                <a:srgbClr val="E6EEF8"/>
              </a:solidFill>
              <a:latin typeface="Calibri"/>
            </a:endParaRPr>
          </a:p>
        </p:txBody>
      </p:sp>
      <p:sp>
        <p:nvSpPr>
          <p:cNvPr id="5" name="Right Arrow 4"/>
          <p:cNvSpPr/>
          <p:nvPr/>
        </p:nvSpPr>
        <p:spPr>
          <a:xfrm>
            <a:off x="2278227" y="2715768"/>
            <a:ext cx="310896" cy="45720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625699" y="2148840"/>
            <a:ext cx="2057400" cy="1600200"/>
          </a:xfrm>
          <a:prstGeom prst="roundRect">
            <a:avLst>
              <a:gd name="adj" fmla="val 8000"/>
            </a:avLst>
          </a:prstGeom>
          <a:solidFill>
            <a:srgbClr val="131F35"/>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lIns="73152" rIns="73152" rtlCol="0" anchor="ctr"/>
          <a:lstStyle/>
          <a:p>
            <a:pPr algn="ctr"/>
            <a:r>
              <a:rPr sz="1350" b="1" dirty="0">
                <a:solidFill>
                  <a:srgbClr val="34D399"/>
                </a:solidFill>
                <a:latin typeface="Calibri"/>
              </a:rPr>
              <a:t>AI System</a:t>
            </a:r>
            <a:endParaRPr lang="en-US" sz="1350" b="1" dirty="0">
              <a:solidFill>
                <a:srgbClr val="34D399"/>
              </a:solidFill>
              <a:latin typeface="Calibri"/>
            </a:endParaRPr>
          </a:p>
          <a:p>
            <a:pPr algn="ctr"/>
            <a:r>
              <a:rPr lang="en-US" sz="1350" b="1" dirty="0">
                <a:solidFill>
                  <a:srgbClr val="34D399"/>
                </a:solidFill>
                <a:latin typeface="Calibri"/>
              </a:rPr>
              <a:t>Signal Engine</a:t>
            </a:r>
            <a:endParaRPr sz="1350" b="1" dirty="0">
              <a:solidFill>
                <a:srgbClr val="34D399"/>
              </a:solidFill>
              <a:latin typeface="Calibri"/>
            </a:endParaRPr>
          </a:p>
          <a:p>
            <a:pPr algn="ctr"/>
            <a:r>
              <a:rPr sz="950" dirty="0">
                <a:solidFill>
                  <a:srgbClr val="E6EEF8"/>
                </a:solidFill>
                <a:latin typeface="Calibri"/>
              </a:rPr>
              <a:t>indicator engine → signal fusion</a:t>
            </a:r>
          </a:p>
          <a:p>
            <a:pPr algn="ctr"/>
            <a:r>
              <a:rPr sz="950" dirty="0">
                <a:solidFill>
                  <a:srgbClr val="E6EEF8"/>
                </a:solidFill>
                <a:latin typeface="Calibri"/>
              </a:rPr>
              <a:t>→ grounded narrative</a:t>
            </a:r>
            <a:endParaRPr lang="en-US" sz="950" dirty="0">
              <a:solidFill>
                <a:srgbClr val="E6EEF8"/>
              </a:solidFill>
              <a:latin typeface="Calibri"/>
            </a:endParaRPr>
          </a:p>
          <a:p>
            <a:pPr algn="ctr"/>
            <a:r>
              <a:rPr lang="en-US" sz="950" dirty="0">
                <a:solidFill>
                  <a:srgbClr val="E6EEF8"/>
                </a:solidFill>
                <a:latin typeface="Calibri"/>
              </a:rPr>
              <a:t>20+indicators(Volume, Breath, VIX,</a:t>
            </a:r>
          </a:p>
          <a:p>
            <a:pPr algn="ctr"/>
            <a:r>
              <a:rPr lang="en-US" sz="950" dirty="0">
                <a:solidFill>
                  <a:srgbClr val="E6EEF8"/>
                </a:solidFill>
                <a:latin typeface="Calibri"/>
              </a:rPr>
              <a:t>DMA, and more )</a:t>
            </a:r>
          </a:p>
          <a:p>
            <a:pPr algn="ctr"/>
            <a:endParaRPr lang="en-US" sz="950" dirty="0">
              <a:solidFill>
                <a:srgbClr val="E6EEF8"/>
              </a:solidFill>
              <a:latin typeface="Calibri"/>
            </a:endParaRPr>
          </a:p>
          <a:p>
            <a:pPr algn="ctr"/>
            <a:r>
              <a:rPr lang="en-US" sz="950" dirty="0">
                <a:solidFill>
                  <a:srgbClr val="E6EEF8"/>
                </a:solidFill>
                <a:latin typeface="Calibri"/>
              </a:rPr>
              <a:t>OUTPUT= Bullish and Bearish + signal reasons</a:t>
            </a:r>
            <a:endParaRPr sz="950" dirty="0">
              <a:solidFill>
                <a:srgbClr val="E6EEF8"/>
              </a:solidFill>
              <a:latin typeface="Calibri"/>
            </a:endParaRPr>
          </a:p>
        </p:txBody>
      </p:sp>
      <p:sp>
        <p:nvSpPr>
          <p:cNvPr id="7" name="Right Arrow 6"/>
          <p:cNvSpPr/>
          <p:nvPr/>
        </p:nvSpPr>
        <p:spPr>
          <a:xfrm>
            <a:off x="4719675" y="2715768"/>
            <a:ext cx="310896" cy="45720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067147" y="2148840"/>
            <a:ext cx="2057400" cy="1600200"/>
          </a:xfrm>
          <a:prstGeom prst="roundRect">
            <a:avLst>
              <a:gd name="adj" fmla="val 8000"/>
            </a:avLst>
          </a:prstGeom>
          <a:solidFill>
            <a:srgbClr val="131F35"/>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lIns="73152" rIns="73152" rtlCol="0" anchor="ctr"/>
          <a:lstStyle/>
          <a:p>
            <a:pPr algn="ctr"/>
            <a:r>
              <a:rPr lang="en-US" sz="1350" b="1" dirty="0">
                <a:solidFill>
                  <a:srgbClr val="A78BFA"/>
                </a:solidFill>
                <a:latin typeface="Calibri"/>
              </a:rPr>
              <a:t>PRISM Monitor
&amp; Evaluate</a:t>
            </a:r>
          </a:p>
          <a:p>
            <a:pPr algn="ctr"/>
            <a:r>
              <a:rPr lang="en-US" sz="950" dirty="0">
                <a:solidFill>
                  <a:srgbClr val="E6EEF8"/>
                </a:solidFill>
                <a:latin typeface="Calibri"/>
              </a:rPr>
              <a:t>traces · evaluators</a:t>
            </a:r>
          </a:p>
          <a:p>
            <a:pPr algn="ctr"/>
            <a:r>
              <a:rPr lang="en-US" sz="950" dirty="0">
                <a:solidFill>
                  <a:srgbClr val="E6EEF8"/>
                </a:solidFill>
                <a:latin typeface="Calibri"/>
              </a:rPr>
              <a:t>guardrail events</a:t>
            </a:r>
          </a:p>
          <a:p>
            <a:pPr algn="ctr"/>
            <a:r>
              <a:rPr lang="en-US" sz="950" dirty="0">
                <a:solidFill>
                  <a:srgbClr val="E6EEF8"/>
                </a:solidFill>
                <a:latin typeface="Calibri"/>
              </a:rPr>
              <a:t>Grounded-ness,</a:t>
            </a:r>
          </a:p>
          <a:p>
            <a:pPr algn="ctr"/>
            <a:r>
              <a:rPr lang="en-US" sz="950" dirty="0">
                <a:solidFill>
                  <a:srgbClr val="E6EEF8"/>
                </a:solidFill>
                <a:latin typeface="Calibri"/>
              </a:rPr>
              <a:t>Safety</a:t>
            </a:r>
          </a:p>
          <a:p>
            <a:pPr algn="ctr"/>
            <a:r>
              <a:rPr lang="en-US" sz="950" dirty="0">
                <a:solidFill>
                  <a:srgbClr val="E6EEF8"/>
                </a:solidFill>
                <a:latin typeface="Calibri"/>
              </a:rPr>
              <a:t>consistency</a:t>
            </a:r>
          </a:p>
        </p:txBody>
      </p:sp>
      <p:sp>
        <p:nvSpPr>
          <p:cNvPr id="9" name="Right Arrow 8"/>
          <p:cNvSpPr/>
          <p:nvPr/>
        </p:nvSpPr>
        <p:spPr>
          <a:xfrm>
            <a:off x="7161123" y="2715768"/>
            <a:ext cx="310896" cy="45720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508595" y="2148840"/>
            <a:ext cx="2057400" cy="1600200"/>
          </a:xfrm>
          <a:prstGeom prst="roundRect">
            <a:avLst>
              <a:gd name="adj" fmla="val 8000"/>
            </a:avLst>
          </a:prstGeom>
          <a:solidFill>
            <a:srgbClr val="131F35"/>
          </a:solidFill>
          <a:ln w="12700">
            <a:solidFill>
              <a:srgbClr val="FBBF24"/>
            </a:solidFill>
          </a:ln>
          <a:effectLst/>
        </p:spPr>
        <p:style>
          <a:lnRef idx="1">
            <a:schemeClr val="accent1"/>
          </a:lnRef>
          <a:fillRef idx="3">
            <a:schemeClr val="accent1"/>
          </a:fillRef>
          <a:effectRef idx="2">
            <a:schemeClr val="accent1"/>
          </a:effectRef>
          <a:fontRef idx="minor">
            <a:schemeClr val="lt1"/>
          </a:fontRef>
        </p:style>
        <p:txBody>
          <a:bodyPr lIns="73152" rIns="73152" rtlCol="0" anchor="ctr"/>
          <a:lstStyle/>
          <a:p>
            <a:pPr algn="ctr"/>
            <a:r>
              <a:rPr sz="1350" b="1">
                <a:solidFill>
                  <a:srgbClr val="FBBF24"/>
                </a:solidFill>
                <a:latin typeface="Calibri"/>
              </a:rPr>
              <a:t>Failure Detection</a:t>
            </a:r>
          </a:p>
          <a:p>
            <a:pPr algn="ctr"/>
            <a:r>
              <a:rPr sz="950">
                <a:solidFill>
                  <a:srgbClr val="E6EEF8"/>
                </a:solidFill>
                <a:latin typeface="Calibri"/>
              </a:rPr>
              <a:t>clustering · root cause</a:t>
            </a:r>
          </a:p>
          <a:p>
            <a:pPr algn="ctr"/>
            <a:r>
              <a:rPr sz="950">
                <a:solidFill>
                  <a:srgbClr val="E6EEF8"/>
                </a:solidFill>
                <a:latin typeface="Calibri"/>
              </a:rPr>
              <a:t>low-confidence flags</a:t>
            </a:r>
          </a:p>
        </p:txBody>
      </p:sp>
      <p:sp>
        <p:nvSpPr>
          <p:cNvPr id="11" name="Right Arrow 10"/>
          <p:cNvSpPr/>
          <p:nvPr/>
        </p:nvSpPr>
        <p:spPr>
          <a:xfrm>
            <a:off x="9602571" y="2715768"/>
            <a:ext cx="310896" cy="45720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9950043" y="2148840"/>
            <a:ext cx="2057400" cy="1600200"/>
          </a:xfrm>
          <a:prstGeom prst="roundRect">
            <a:avLst>
              <a:gd name="adj" fmla="val 8000"/>
            </a:avLst>
          </a:prstGeom>
          <a:solidFill>
            <a:srgbClr val="131F35"/>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lIns="73152" rIns="73152" rtlCol="0" anchor="ctr"/>
          <a:lstStyle/>
          <a:p>
            <a:pPr algn="ctr"/>
            <a:r>
              <a:rPr sz="1350" b="1">
                <a:solidFill>
                  <a:srgbClr val="F87171"/>
                </a:solidFill>
                <a:latin typeface="Calibri"/>
              </a:rPr>
              <a:t>Improvement</a:t>
            </a:r>
          </a:p>
          <a:p>
            <a:pPr algn="ctr"/>
            <a:r>
              <a:rPr sz="950">
                <a:solidFill>
                  <a:srgbClr val="E6EEF8"/>
                </a:solidFill>
                <a:latin typeface="Calibri"/>
              </a:rPr>
              <a:t>human-gated fix → re-test</a:t>
            </a:r>
          </a:p>
          <a:p>
            <a:pPr algn="ctr"/>
            <a:r>
              <a:rPr sz="950">
                <a:solidFill>
                  <a:srgbClr val="E6EEF8"/>
                </a:solidFill>
                <a:latin typeface="Calibri"/>
              </a:rPr>
              <a:t>→ validated delta</a:t>
            </a:r>
          </a:p>
        </p:txBody>
      </p:sp>
      <p:sp>
        <p:nvSpPr>
          <p:cNvPr id="13" name="Left Arrow 12"/>
          <p:cNvSpPr/>
          <p:nvPr/>
        </p:nvSpPr>
        <p:spPr>
          <a:xfrm>
            <a:off x="550011" y="4251960"/>
            <a:ext cx="11091672" cy="502920"/>
          </a:xfrm>
          <a:prstGeom prst="leftArrow">
            <a:avLst/>
          </a:prstGeom>
          <a:solidFill>
            <a:srgbClr val="1A2A45"/>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A78BFA"/>
                </a:solidFill>
                <a:latin typeface="Calibri"/>
              </a:rPr>
              <a:t>validated improvements (human-gated) feed back into the AI system — the loop closes</a:t>
            </a:r>
          </a:p>
        </p:txBody>
      </p:sp>
      <p:sp>
        <p:nvSpPr>
          <p:cNvPr id="14" name="TextBox 13"/>
          <p:cNvSpPr txBox="1"/>
          <p:nvPr/>
        </p:nvSpPr>
        <p:spPr>
          <a:xfrm>
            <a:off x="502920" y="5394960"/>
            <a:ext cx="11155680" cy="731520"/>
          </a:xfrm>
          <a:prstGeom prst="rect">
            <a:avLst/>
          </a:prstGeom>
          <a:noFill/>
        </p:spPr>
        <p:txBody>
          <a:bodyPr wrap="square" anchor="t">
            <a:spAutoFit/>
          </a:bodyPr>
          <a:lstStyle/>
          <a:p>
            <a:pPr algn="l">
              <a:spcAft>
                <a:spcPts val="600"/>
              </a:spcAft>
            </a:pPr>
            <a:r>
              <a:rPr sz="1150" b="0" i="1">
                <a:solidFill>
                  <a:srgbClr val="94A3B8"/>
                </a:solidFill>
                <a:latin typeface="Calibri"/>
              </a:rPr>
              <a:t>30-second example: narrative said “bullish momentum” while India VIX jumped 15% → PRISM consistency evaluator failed the run → root cause: prompt under-weighted volatility → prompt v2 → same scenario re-run → pass → reliability score +1.</a:t>
            </a:r>
          </a:p>
        </p:txBody>
      </p:sp>
      <p:sp>
        <p:nvSpPr>
          <p:cNvPr id="15" name="TextBox 14"/>
          <p:cNvSpPr txBox="1"/>
          <p:nvPr/>
        </p:nvSpPr>
        <p:spPr>
          <a:xfrm>
            <a:off x="502920" y="6446520"/>
            <a:ext cx="8229600" cy="320040"/>
          </a:xfrm>
          <a:prstGeom prst="rect">
            <a:avLst/>
          </a:prstGeom>
          <a:noFill/>
        </p:spPr>
        <p:txBody>
          <a:bodyPr wrap="square" anchor="t">
            <a:spAutoFit/>
          </a:bodyPr>
          <a:lstStyle/>
          <a:p>
            <a:pPr algn="l">
              <a:spcAft>
                <a:spcPts val="600"/>
              </a:spcAft>
            </a:pPr>
            <a:r>
              <a:rPr sz="900" b="0" i="0">
                <a:solidFill>
                  <a:srgbClr val="94A3B8"/>
                </a:solidFill>
                <a:latin typeface="Calibri"/>
              </a:rPr>
              <a:t>MarketPulse · AI for Finance · Decision support — not investment advice</a:t>
            </a:r>
          </a:p>
        </p:txBody>
      </p:sp>
      <p:sp>
        <p:nvSpPr>
          <p:cNvPr id="16" name="TextBox 15"/>
          <p:cNvSpPr txBox="1"/>
          <p:nvPr/>
        </p:nvSpPr>
        <p:spPr>
          <a:xfrm>
            <a:off x="11247120" y="6446520"/>
            <a:ext cx="548640" cy="320040"/>
          </a:xfrm>
          <a:prstGeom prst="rect">
            <a:avLst/>
          </a:prstGeom>
          <a:noFill/>
        </p:spPr>
        <p:txBody>
          <a:bodyPr wrap="square" anchor="t">
            <a:spAutoFit/>
          </a:bodyPr>
          <a:lstStyle/>
          <a:p>
            <a:pPr algn="r">
              <a:spcAft>
                <a:spcPts val="600"/>
              </a:spcAft>
            </a:pPr>
            <a:r>
              <a:rPr sz="1000" b="0" i="0">
                <a:solidFill>
                  <a:srgbClr val="94A3B8"/>
                </a:solidFill>
                <a:latin typeface="Calibri"/>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9601200" cy="914400"/>
          </a:xfrm>
          <a:prstGeom prst="rect">
            <a:avLst/>
          </a:prstGeom>
          <a:noFill/>
        </p:spPr>
        <p:txBody>
          <a:bodyPr wrap="square" anchor="t">
            <a:spAutoFit/>
          </a:bodyPr>
          <a:lstStyle/>
          <a:p>
            <a:pPr algn="l">
              <a:spcAft>
                <a:spcPts val="200"/>
              </a:spcAft>
            </a:pPr>
            <a:r>
              <a:rPr sz="1100" b="1" i="0">
                <a:solidFill>
                  <a:srgbClr val="22D3EE"/>
                </a:solidFill>
                <a:latin typeface="Calibri"/>
              </a:rPr>
              <a:t>SLIDE 6</a:t>
            </a:r>
          </a:p>
          <a:p>
            <a:pPr algn="l">
              <a:spcAft>
                <a:spcPts val="200"/>
              </a:spcAft>
            </a:pPr>
            <a:r>
              <a:rPr sz="2800" b="1" i="0">
                <a:solidFill>
                  <a:srgbClr val="FFFFFF"/>
                </a:solidFill>
                <a:latin typeface="Calibri"/>
              </a:rPr>
              <a:t>Impact &amp; Future Scope</a:t>
            </a:r>
          </a:p>
          <a:p>
            <a:pPr algn="l">
              <a:spcAft>
                <a:spcPts val="0"/>
              </a:spcAft>
            </a:pPr>
            <a:r>
              <a:rPr sz="1200" b="0" i="0">
                <a:solidFill>
                  <a:srgbClr val="94A3B8"/>
                </a:solidFill>
                <a:latin typeface="Calibri"/>
              </a:rPr>
              <a:t>Key benefits, real-world impact, scalability, and future enhancements</a:t>
            </a:r>
          </a:p>
        </p:txBody>
      </p:sp>
      <p:sp>
        <p:nvSpPr>
          <p:cNvPr id="3" name="Rectangle 2"/>
          <p:cNvSpPr/>
          <p:nvPr/>
        </p:nvSpPr>
        <p:spPr>
          <a:xfrm>
            <a:off x="530352" y="1298448"/>
            <a:ext cx="1463040" cy="381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1600200"/>
            <a:ext cx="6309360" cy="4478149"/>
          </a:xfrm>
          <a:prstGeom prst="rect">
            <a:avLst/>
          </a:prstGeom>
          <a:noFill/>
        </p:spPr>
        <p:txBody>
          <a:bodyPr wrap="square" anchor="t">
            <a:spAutoFit/>
          </a:bodyPr>
          <a:lstStyle/>
          <a:p>
            <a:pPr>
              <a:spcAft>
                <a:spcPts val="1000"/>
              </a:spcAft>
            </a:pPr>
            <a:r>
              <a:rPr lang="en-US" sz="1400" b="1" dirty="0">
                <a:solidFill>
                  <a:srgbClr val="22D3EE"/>
                </a:solidFill>
                <a:latin typeface="Calibri"/>
              </a:rPr>
              <a:t>•  </a:t>
            </a:r>
            <a:r>
              <a:rPr lang="en-US" sz="1400" b="1" dirty="0">
                <a:solidFill>
                  <a:srgbClr val="E6EEF8"/>
                </a:solidFill>
                <a:latin typeface="Calibri"/>
              </a:rPr>
              <a:t>Impact: </a:t>
            </a:r>
            <a:r>
              <a:rPr lang="en-US" sz="1400" dirty="0">
                <a:solidFill>
                  <a:srgbClr val="E6EEF8"/>
                </a:solidFill>
                <a:latin typeface="Calibri"/>
              </a:rPr>
              <a:t>literate, informed first-time investors — decisions based on evidence, not tips or panic</a:t>
            </a:r>
          </a:p>
          <a:p>
            <a:pPr>
              <a:spcAft>
                <a:spcPts val="1000"/>
              </a:spcAft>
            </a:pPr>
            <a:r>
              <a:rPr lang="en-US" sz="1400" b="1" dirty="0">
                <a:solidFill>
                  <a:srgbClr val="22D3EE"/>
                </a:solidFill>
                <a:latin typeface="Calibri"/>
              </a:rPr>
              <a:t>•  </a:t>
            </a:r>
            <a:r>
              <a:rPr lang="en-US" sz="1400" b="1" dirty="0">
                <a:solidFill>
                  <a:srgbClr val="E6EEF8"/>
                </a:solidFill>
                <a:latin typeface="Calibri"/>
              </a:rPr>
              <a:t>Trust: </a:t>
            </a:r>
            <a:r>
              <a:rPr lang="en-US" sz="1400" dirty="0">
                <a:solidFill>
                  <a:srgbClr val="E6EEF8"/>
                </a:solidFill>
                <a:latin typeface="Calibri"/>
              </a:rPr>
              <a:t>AI explanations that are auditable — every number traceable to a visible signal, guarded by advice-safety checks</a:t>
            </a:r>
          </a:p>
          <a:p>
            <a:pPr>
              <a:spcAft>
                <a:spcPts val="1000"/>
              </a:spcAft>
            </a:pPr>
            <a:r>
              <a:rPr lang="en-US" sz="1400" b="1" dirty="0">
                <a:solidFill>
                  <a:srgbClr val="22D3EE"/>
                </a:solidFill>
                <a:latin typeface="Calibri"/>
              </a:rPr>
              <a:t>•  </a:t>
            </a:r>
            <a:r>
              <a:rPr lang="en-US" sz="1400" b="1" dirty="0">
                <a:solidFill>
                  <a:srgbClr val="E6EEF8"/>
                </a:solidFill>
                <a:latin typeface="Calibri"/>
              </a:rPr>
              <a:t>Measurable: </a:t>
            </a:r>
            <a:r>
              <a:rPr lang="en-US" sz="1400" dirty="0">
                <a:solidFill>
                  <a:srgbClr val="E6EEF8"/>
                </a:solidFill>
                <a:latin typeface="Calibri"/>
              </a:rPr>
              <a:t>PRISM reliability score and failure-to-fix velocity tracked monthly as an executive artifact</a:t>
            </a:r>
          </a:p>
          <a:p>
            <a:pPr>
              <a:spcAft>
                <a:spcPts val="1000"/>
              </a:spcAft>
            </a:pPr>
            <a:r>
              <a:rPr lang="en-US" sz="1400" b="1" dirty="0">
                <a:solidFill>
                  <a:srgbClr val="22D3EE"/>
                </a:solidFill>
                <a:latin typeface="Calibri"/>
              </a:rPr>
              <a:t>•  </a:t>
            </a:r>
            <a:r>
              <a:rPr lang="en-US" sz="1400" b="1" dirty="0">
                <a:solidFill>
                  <a:srgbClr val="E6EEF8"/>
                </a:solidFill>
                <a:latin typeface="Calibri"/>
              </a:rPr>
              <a:t>Scale: </a:t>
            </a:r>
            <a:r>
              <a:rPr lang="en-US" sz="1400" dirty="0">
                <a:solidFill>
                  <a:srgbClr val="E6EEF8"/>
                </a:solidFill>
                <a:latin typeface="Calibri"/>
              </a:rPr>
              <a:t>100% free data stack (Yahoo Finance, Google News, NSE) + serverless deployment → near-zero marginal cost per user</a:t>
            </a:r>
          </a:p>
          <a:p>
            <a:pPr>
              <a:spcAft>
                <a:spcPts val="1000"/>
              </a:spcAft>
            </a:pPr>
            <a:endParaRPr lang="en-US" sz="1400" dirty="0">
              <a:solidFill>
                <a:srgbClr val="E6EEF8"/>
              </a:solidFill>
              <a:latin typeface="Calibri"/>
            </a:endParaRPr>
          </a:p>
          <a:p>
            <a:pPr>
              <a:spcAft>
                <a:spcPts val="1000"/>
              </a:spcAft>
            </a:pPr>
            <a:r>
              <a:rPr lang="en-US" sz="1400" dirty="0">
                <a:solidFill>
                  <a:srgbClr val="E6EEF8"/>
                </a:solidFill>
                <a:latin typeface="Calibri"/>
              </a:rPr>
              <a:t>Biggest Impact : Better decisions</a:t>
            </a:r>
          </a:p>
          <a:p>
            <a:pPr>
              <a:spcAft>
                <a:spcPts val="1000"/>
              </a:spcAft>
            </a:pPr>
            <a:r>
              <a:rPr lang="en-US" sz="1400" dirty="0">
                <a:solidFill>
                  <a:srgbClr val="E6EEF8"/>
                </a:solidFill>
                <a:latin typeface="Calibri"/>
              </a:rPr>
              <a:t>Beginners understand why the market signal is bullish/bearish instead of following random tips</a:t>
            </a:r>
          </a:p>
          <a:p>
            <a:pPr>
              <a:spcAft>
                <a:spcPts val="1000"/>
              </a:spcAft>
            </a:pPr>
            <a:r>
              <a:rPr lang="en-US" sz="1400" dirty="0">
                <a:solidFill>
                  <a:srgbClr val="E6EEF8"/>
                </a:solidFill>
                <a:latin typeface="Calibri"/>
              </a:rPr>
              <a:t>People will invest better , learn quicker, and be efficient enough. </a:t>
            </a:r>
          </a:p>
          <a:p>
            <a:pPr>
              <a:spcAft>
                <a:spcPts val="1000"/>
              </a:spcAft>
            </a:pPr>
            <a:endParaRPr lang="en-US" sz="1400" dirty="0">
              <a:solidFill>
                <a:srgbClr val="E6EEF8"/>
              </a:solidFill>
              <a:latin typeface="Calibri"/>
            </a:endParaRPr>
          </a:p>
          <a:p>
            <a:pPr>
              <a:spcAft>
                <a:spcPts val="1000"/>
              </a:spcAft>
            </a:pPr>
            <a:endParaRPr sz="1400" dirty="0">
              <a:solidFill>
                <a:srgbClr val="E6EEF8"/>
              </a:solidFill>
              <a:latin typeface="Calibri"/>
            </a:endParaRPr>
          </a:p>
        </p:txBody>
      </p:sp>
      <p:sp>
        <p:nvSpPr>
          <p:cNvPr id="5" name="TextBox 4"/>
          <p:cNvSpPr txBox="1"/>
          <p:nvPr/>
        </p:nvSpPr>
        <p:spPr>
          <a:xfrm>
            <a:off x="7223760" y="1691640"/>
            <a:ext cx="4389120" cy="457200"/>
          </a:xfrm>
          <a:prstGeom prst="rect">
            <a:avLst/>
          </a:prstGeom>
          <a:noFill/>
        </p:spPr>
        <p:txBody>
          <a:bodyPr wrap="square" anchor="t">
            <a:spAutoFit/>
          </a:bodyPr>
          <a:lstStyle/>
          <a:p>
            <a:pPr algn="l">
              <a:spcAft>
                <a:spcPts val="600"/>
              </a:spcAft>
            </a:pPr>
            <a:r>
              <a:rPr sz="1400" b="1" i="0">
                <a:solidFill>
                  <a:srgbClr val="22D3EE"/>
                </a:solidFill>
                <a:latin typeface="Calibri"/>
              </a:rPr>
              <a:t>Future scope</a:t>
            </a:r>
          </a:p>
        </p:txBody>
      </p:sp>
      <p:sp>
        <p:nvSpPr>
          <p:cNvPr id="6" name="Rounded Rectangle 5"/>
          <p:cNvSpPr/>
          <p:nvPr/>
        </p:nvSpPr>
        <p:spPr>
          <a:xfrm>
            <a:off x="7223760" y="2240280"/>
            <a:ext cx="2103120" cy="402336"/>
          </a:xfrm>
          <a:prstGeom prst="roundRect">
            <a:avLst>
              <a:gd name="adj" fmla="val 8000"/>
            </a:avLst>
          </a:prstGeom>
          <a:solidFill>
            <a:srgbClr val="131F35"/>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a:solidFill>
                  <a:srgbClr val="E6EEF8"/>
                </a:solidFill>
                <a:latin typeface="Calibri"/>
              </a:rPr>
              <a:t>US market coverage</a:t>
            </a:r>
          </a:p>
        </p:txBody>
      </p:sp>
      <p:sp>
        <p:nvSpPr>
          <p:cNvPr id="7" name="Rounded Rectangle 6"/>
          <p:cNvSpPr/>
          <p:nvPr/>
        </p:nvSpPr>
        <p:spPr>
          <a:xfrm>
            <a:off x="9491472" y="2240280"/>
            <a:ext cx="2103120" cy="402336"/>
          </a:xfrm>
          <a:prstGeom prst="roundRect">
            <a:avLst>
              <a:gd name="adj" fmla="val 8000"/>
            </a:avLst>
          </a:prstGeom>
          <a:solidFill>
            <a:srgbClr val="131F35"/>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a:solidFill>
                  <a:srgbClr val="E6EEF8"/>
                </a:solidFill>
                <a:latin typeface="Calibri"/>
              </a:rPr>
              <a:t>Portfolio-level monitoring</a:t>
            </a:r>
          </a:p>
        </p:txBody>
      </p:sp>
      <p:sp>
        <p:nvSpPr>
          <p:cNvPr id="8" name="Rounded Rectangle 7"/>
          <p:cNvSpPr/>
          <p:nvPr/>
        </p:nvSpPr>
        <p:spPr>
          <a:xfrm>
            <a:off x="7223760" y="2807208"/>
            <a:ext cx="2103120" cy="402336"/>
          </a:xfrm>
          <a:prstGeom prst="roundRect">
            <a:avLst>
              <a:gd name="adj" fmla="val 8000"/>
            </a:avLst>
          </a:prstGeom>
          <a:solidFill>
            <a:srgbClr val="131F35"/>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a:solidFill>
                  <a:srgbClr val="E6EEF8"/>
                </a:solidFill>
                <a:latin typeface="Calibri"/>
              </a:rPr>
              <a:t>Hindi &amp; regional languages</a:t>
            </a:r>
          </a:p>
        </p:txBody>
      </p:sp>
      <p:sp>
        <p:nvSpPr>
          <p:cNvPr id="9" name="Rounded Rectangle 8"/>
          <p:cNvSpPr/>
          <p:nvPr/>
        </p:nvSpPr>
        <p:spPr>
          <a:xfrm>
            <a:off x="9491472" y="2807208"/>
            <a:ext cx="2103120" cy="402336"/>
          </a:xfrm>
          <a:prstGeom prst="roundRect">
            <a:avLst>
              <a:gd name="adj" fmla="val 8000"/>
            </a:avLst>
          </a:prstGeom>
          <a:solidFill>
            <a:srgbClr val="131F35"/>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a:solidFill>
                  <a:srgbClr val="E6EEF8"/>
                </a:solidFill>
                <a:latin typeface="Calibri"/>
              </a:rPr>
              <a:t>Daily digest alerts</a:t>
            </a:r>
          </a:p>
        </p:txBody>
      </p:sp>
      <p:sp>
        <p:nvSpPr>
          <p:cNvPr id="10" name="Rounded Rectangle 9"/>
          <p:cNvSpPr/>
          <p:nvPr/>
        </p:nvSpPr>
        <p:spPr>
          <a:xfrm>
            <a:off x="7223760" y="3374136"/>
            <a:ext cx="2103120" cy="402336"/>
          </a:xfrm>
          <a:prstGeom prst="roundRect">
            <a:avLst>
              <a:gd name="adj" fmla="val 8000"/>
            </a:avLst>
          </a:prstGeom>
          <a:solidFill>
            <a:srgbClr val="131F35"/>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a:solidFill>
                  <a:srgbClr val="E6EEF8"/>
                </a:solidFill>
                <a:latin typeface="Calibri"/>
              </a:rPr>
              <a:t>Voice mode</a:t>
            </a:r>
          </a:p>
        </p:txBody>
      </p:sp>
      <p:sp>
        <p:nvSpPr>
          <p:cNvPr id="11" name="Rounded Rectangle 10"/>
          <p:cNvSpPr/>
          <p:nvPr/>
        </p:nvSpPr>
        <p:spPr>
          <a:xfrm>
            <a:off x="9491472" y="3374136"/>
            <a:ext cx="2103120" cy="402336"/>
          </a:xfrm>
          <a:prstGeom prst="roundRect">
            <a:avLst>
              <a:gd name="adj" fmla="val 8000"/>
            </a:avLst>
          </a:prstGeom>
          <a:solidFill>
            <a:srgbClr val="131F35"/>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a:solidFill>
                  <a:srgbClr val="E6EEF8"/>
                </a:solidFill>
                <a:latin typeface="Calibri"/>
              </a:rPr>
              <a:t>Bias evaluators</a:t>
            </a:r>
          </a:p>
        </p:txBody>
      </p:sp>
      <p:sp>
        <p:nvSpPr>
          <p:cNvPr id="12" name="Rounded Rectangle 11"/>
          <p:cNvSpPr/>
          <p:nvPr/>
        </p:nvSpPr>
        <p:spPr>
          <a:xfrm>
            <a:off x="7223760" y="3941064"/>
            <a:ext cx="2103120" cy="402336"/>
          </a:xfrm>
          <a:prstGeom prst="roundRect">
            <a:avLst>
              <a:gd name="adj" fmla="val 8000"/>
            </a:avLst>
          </a:prstGeom>
          <a:solidFill>
            <a:srgbClr val="131F35"/>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a:solidFill>
                  <a:srgbClr val="E6EEF8"/>
                </a:solidFill>
                <a:latin typeface="Calibri"/>
              </a:rPr>
              <a:t>Mobile app</a:t>
            </a:r>
          </a:p>
        </p:txBody>
      </p:sp>
      <p:sp>
        <p:nvSpPr>
          <p:cNvPr id="13" name="Rounded Rectangle 12"/>
          <p:cNvSpPr/>
          <p:nvPr/>
        </p:nvSpPr>
        <p:spPr>
          <a:xfrm>
            <a:off x="9491472" y="3941064"/>
            <a:ext cx="2103120" cy="402336"/>
          </a:xfrm>
          <a:prstGeom prst="roundRect">
            <a:avLst>
              <a:gd name="adj" fmla="val 8000"/>
            </a:avLst>
          </a:prstGeom>
          <a:solidFill>
            <a:srgbClr val="131F35"/>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r>
              <a:rPr sz="1050" b="1">
                <a:solidFill>
                  <a:srgbClr val="E6EEF8"/>
                </a:solidFill>
                <a:latin typeface="Calibri"/>
              </a:rPr>
              <a:t>Paper-portfolio tracking</a:t>
            </a:r>
          </a:p>
        </p:txBody>
      </p:sp>
      <p:sp>
        <p:nvSpPr>
          <p:cNvPr id="14" name="TextBox 13"/>
          <p:cNvSpPr txBox="1"/>
          <p:nvPr/>
        </p:nvSpPr>
        <p:spPr>
          <a:xfrm>
            <a:off x="502920" y="5577840"/>
            <a:ext cx="11155680" cy="548640"/>
          </a:xfrm>
          <a:prstGeom prst="rect">
            <a:avLst/>
          </a:prstGeom>
          <a:noFill/>
        </p:spPr>
        <p:txBody>
          <a:bodyPr wrap="square" anchor="t">
            <a:spAutoFit/>
          </a:bodyPr>
          <a:lstStyle/>
          <a:p>
            <a:pPr algn="l">
              <a:spcAft>
                <a:spcPts val="600"/>
              </a:spcAft>
            </a:pPr>
            <a:r>
              <a:rPr sz="1300" b="1" i="1">
                <a:solidFill>
                  <a:srgbClr val="FFFFFF"/>
                </a:solidFill>
                <a:latin typeface="Calibri"/>
              </a:rPr>
              <a:t>“We don't promise returns — we promise that every explanation we show can be proven correct.”</a:t>
            </a:r>
          </a:p>
        </p:txBody>
      </p:sp>
      <p:sp>
        <p:nvSpPr>
          <p:cNvPr id="15" name="TextBox 14"/>
          <p:cNvSpPr txBox="1"/>
          <p:nvPr/>
        </p:nvSpPr>
        <p:spPr>
          <a:xfrm>
            <a:off x="502920" y="6446520"/>
            <a:ext cx="8229600" cy="320040"/>
          </a:xfrm>
          <a:prstGeom prst="rect">
            <a:avLst/>
          </a:prstGeom>
          <a:noFill/>
        </p:spPr>
        <p:txBody>
          <a:bodyPr wrap="square" anchor="t">
            <a:spAutoFit/>
          </a:bodyPr>
          <a:lstStyle/>
          <a:p>
            <a:pPr algn="l">
              <a:spcAft>
                <a:spcPts val="600"/>
              </a:spcAft>
            </a:pPr>
            <a:r>
              <a:rPr sz="900" b="0" i="0">
                <a:solidFill>
                  <a:srgbClr val="94A3B8"/>
                </a:solidFill>
                <a:latin typeface="Calibri"/>
              </a:rPr>
              <a:t>MarketPulse · AI for Finance · Decision support — not investment advice</a:t>
            </a:r>
          </a:p>
        </p:txBody>
      </p:sp>
      <p:sp>
        <p:nvSpPr>
          <p:cNvPr id="16" name="TextBox 15"/>
          <p:cNvSpPr txBox="1"/>
          <p:nvPr/>
        </p:nvSpPr>
        <p:spPr>
          <a:xfrm>
            <a:off x="11247120" y="6446520"/>
            <a:ext cx="548640" cy="320040"/>
          </a:xfrm>
          <a:prstGeom prst="rect">
            <a:avLst/>
          </a:prstGeom>
          <a:noFill/>
        </p:spPr>
        <p:txBody>
          <a:bodyPr wrap="square" anchor="t">
            <a:spAutoFit/>
          </a:bodyPr>
          <a:lstStyle/>
          <a:p>
            <a:pPr algn="r">
              <a:spcAft>
                <a:spcPts val="600"/>
              </a:spcAft>
            </a:pPr>
            <a:r>
              <a:rPr sz="1000" b="0" i="0">
                <a:solidFill>
                  <a:srgbClr val="94A3B8"/>
                </a:solidFill>
                <a:latin typeface="Calibri"/>
              </a:rP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TotalTime>
  <Words>1626</Words>
  <Application>Microsoft Macintosh PowerPoint</Application>
  <PresentationFormat>Widescreen</PresentationFormat>
  <Paragraphs>165</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SHAURYA SINGH</cp:lastModifiedBy>
  <cp:revision>2</cp:revision>
  <dcterms:created xsi:type="dcterms:W3CDTF">2013-01-27T09:14:16Z</dcterms:created>
  <dcterms:modified xsi:type="dcterms:W3CDTF">2026-09-14T10:40:03Z</dcterms:modified>
  <cp:category/>
</cp:coreProperties>
</file>